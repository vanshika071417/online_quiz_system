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10896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Online Quiz System (QuizSphere Pro)</a:t>
            </a:r>
          </a:p>
          <a:p>
            <a:pPr>
              <a:spcBef>
                <a:spcPts val="600"/>
              </a:spcBef>
              <a:defRPr sz="1800">
                <a:solidFill>
                  <a:srgbClr val="3B82F6"/>
                </a:solidFill>
              </a:defRPr>
            </a:pPr>
            <a:r>
              <a:t>Process Map, Stakeholders, Measurable Requirements &amp;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B82F6"/>
                </a:solidFill>
              </a:defRPr>
            </a:pPr>
            <a:r>
              <a:t>COURSE &amp; BASELINE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BBAT104: Fundamentals of TQM</a:t>
            </a:r>
            <a:br/>
            <a:r>
              <a:t>Baseline System 9: Online Quiz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5661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356616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74903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</a:defRPr>
            </a:pPr>
            <a:r>
              <a:t>ASSIGNED QUALITY GOAL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Q20: Overall Software Quality</a:t>
            </a:r>
            <a:br/>
            <a:r>
              <a:t>Dashboards, Validation, Export &amp; Backups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5661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356616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74903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</a:defRPr>
            </a:pPr>
            <a:r>
              <a:t>CORE OBJECTIVE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Zero-Latency Evaluation (&lt;250ms)</a:t>
            </a:r>
            <a:br/>
            <a:r>
              <a:t>100% Deterministic Auto-Grading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5661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356616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74903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8B5CF6"/>
                </a:solidFill>
              </a:defRPr>
            </a:pPr>
            <a:r>
              <a:t>DEPLOYMENT CHANNELS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FastAPI Unified Web Backend + SPA</a:t>
            </a:r>
            <a:br/>
            <a:r>
              <a:t>Native CustomTkinter Desktop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Baseline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F4444"/>
                </a:solidFill>
              </a:defRPr>
            </a:pPr>
            <a:r>
              <a:t>TRADITIONAL SYSTEM PAIN POINTS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• Submission Hangs &amp; Data Loss: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Network lag causes timeouts; student answers are lost unrecorded.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• Academic Dishonesty: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No active focus monitoring; students easily switch tabs to cheat.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• Manual Teacher Burden: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Hours wasted formatting question sheets, scoring, and tabulating.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• Single Point of Failure: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No automated local database snapshotting; server crashes cause fatal exam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QUIZSPHERE PRO ARCHITECTURAL SOLUTION</a:t>
            </a:r>
          </a:p>
          <a:p>
            <a:pPr>
              <a:spcBef>
                <a:spcPts val="400"/>
              </a:spcBef>
              <a:defRPr b="1" sz="1100">
                <a:solidFill>
                  <a:srgbClr val="10B981"/>
                </a:solidFill>
              </a:defRPr>
            </a:pPr>
            <a:r>
              <a:t>✔ Sub-250ms Instant Evaluation: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In-memory deterministic scoring grades tests in 15-35 milliseconds.</a:t>
            </a:r>
          </a:p>
          <a:p>
            <a:pPr>
              <a:spcBef>
                <a:spcPts val="400"/>
              </a:spcBef>
              <a:defRPr b="1" sz="1100">
                <a:solidFill>
                  <a:srgbClr val="10B981"/>
                </a:solidFill>
              </a:defRPr>
            </a:pPr>
            <a:r>
              <a:t>✔ Anti-Cheat Proctoring Hub: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Continuous window focus loss and tab-switch telemetry logged in real time.</a:t>
            </a:r>
          </a:p>
          <a:p>
            <a:pPr>
              <a:spcBef>
                <a:spcPts val="400"/>
              </a:spcBef>
              <a:defRPr b="1" sz="1100">
                <a:solidFill>
                  <a:srgbClr val="10B981"/>
                </a:solidFill>
              </a:defRPr>
            </a:pPr>
            <a:r>
              <a:t>✔ AI Curriculum Generation: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Faculty input syllabus topic keywords; 5-20 MCQs synthesized in seconds.</a:t>
            </a:r>
          </a:p>
          <a:p>
            <a:pPr>
              <a:spcBef>
                <a:spcPts val="400"/>
              </a:spcBef>
              <a:defRPr b="1" sz="1100">
                <a:solidFill>
                  <a:srgbClr val="10B981"/>
                </a:solidFill>
              </a:defRPr>
            </a:pPr>
            <a:r>
              <a:t>✔ Dual Platform Deployment: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Simultaneous access via responsive Web SPA and standalone Windows Desktop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Vision, Mission &amp; Measurable Quality Objectives (O1–O5)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VISION: An examination environment where zero unrecorded answers, zero grading latency, and zero undetected infractions occur.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MISSION: Build a dual-platform assessment system that records stock attempts, blocks cheating via active proctoring, auto-grades in &lt;250ms, and shows who did what.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0584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058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O1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3108960"/>
            <a:ext cx="95097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3182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Zero lost submissions on any student attempt under peak concurrency.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100584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1005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764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O2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3703320"/>
            <a:ext cx="95097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377647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Every test submission either saves fully (ACID atomicity) or not at 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100584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97680"/>
            <a:ext cx="1005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708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O3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297680"/>
            <a:ext cx="95097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437083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Every user action and proctoring violation is captured in audit logs.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100584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100584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6519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t>O4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4892040"/>
            <a:ext cx="95097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49651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Automated database backup file created at least once a day in backups/.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0584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486400"/>
            <a:ext cx="10058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55955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O5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5486400"/>
            <a:ext cx="95097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0" y="55595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Login and code validation fail safely. App does not crash.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Three Quality Ideas &amp; Feature-to-Quality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3B82F6"/>
                </a:solidFill>
              </a:defRPr>
            </a:pPr>
            <a:r>
              <a:t>THREE QUALITY IDEAS BEHIND THE SYSTEM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• 1. Error Prevention at Source (Poka-Yoke):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Blank prompts, missing radio choices, out-of-bounds duration limits, and duplicate Join Codes are hard-blocked.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• 2. Process Control (One Path for Work):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Teacher Creates → Code Issued → Candidate Enters → Proctored Exam → Instant Auto-Grade. UI cannot skip rules.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• 3. Monitoring (See &amp; Trace):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Real-time dashboard KPI alerts, proctor violation logs, and error telemetry directly feeding FMEA.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0B981"/>
                </a:solidFill>
              </a:defRPr>
            </a:pPr>
            <a:r>
              <a:t>FEATURE → TQM QUALITY IDEA MAPPING</a:t>
            </a:r>
          </a:p>
          <a:p>
            <a:pPr>
              <a:spcBef>
                <a:spcPts val="400"/>
              </a:spcBef>
              <a:defRPr b="1" sz="1050">
                <a:solidFill>
                  <a:srgbClr val="F59E0B"/>
                </a:solidFill>
              </a:defRPr>
            </a:pPr>
            <a:r>
              <a:t>▪ Input Validation: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  → Error prevention at source (Poka-yoke)</a:t>
            </a:r>
          </a:p>
          <a:p>
            <a:pPr>
              <a:spcBef>
                <a:spcPts val="400"/>
              </a:spcBef>
              <a:defRPr b="1" sz="1050">
                <a:solidFill>
                  <a:srgbClr val="F59E0B"/>
                </a:solidFill>
              </a:defRPr>
            </a:pPr>
            <a:r>
              <a:t>▪ User Roles (RBAC):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  → Process control + accountability</a:t>
            </a:r>
          </a:p>
          <a:p>
            <a:pPr>
              <a:spcBef>
                <a:spcPts val="400"/>
              </a:spcBef>
              <a:defRPr b="1" sz="1050">
                <a:solidFill>
                  <a:srgbClr val="F59E0B"/>
                </a:solidFill>
              </a:defRPr>
            </a:pPr>
            <a:r>
              <a:t>▪ Audit Log &amp; Violation Tracker: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  → Monitoring + traceability</a:t>
            </a:r>
          </a:p>
          <a:p>
            <a:pPr>
              <a:spcBef>
                <a:spcPts val="400"/>
              </a:spcBef>
              <a:defRPr b="1" sz="1050">
                <a:solidFill>
                  <a:srgbClr val="F59E0B"/>
                </a:solidFill>
              </a:defRPr>
            </a:pPr>
            <a:r>
              <a:t>▪ Error Recovery (ACID):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  → Reliability. No half-submitted tests.</a:t>
            </a:r>
          </a:p>
          <a:p>
            <a:pPr>
              <a:spcBef>
                <a:spcPts val="400"/>
              </a:spcBef>
              <a:defRPr b="1" sz="1050">
                <a:solidFill>
                  <a:srgbClr val="F59E0B"/>
                </a:solidFill>
              </a:defRPr>
            </a:pPr>
            <a:r>
              <a:t>▪ Auto Backup Engine: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  → Reliability. Data is never lost.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Process Map, Sitting Controls &amp; SIPOC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5/17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Quiz Creation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Join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59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Student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Exam Execution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9456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19456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3B82F6"/>
                </a:solidFill>
              </a:defRPr>
            </a:pPr>
            <a:r>
              <a:t>On Quiz Creation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Title, 4 options, radio key, duration 1-180m validated.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19456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19456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0B981"/>
                </a:solidFill>
              </a:defRPr>
            </a:pPr>
            <a:r>
              <a:t>On Join Code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Normalized to uppercase, SQL uniqueness check, sub-25ms resolution.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19456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19456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EF4444"/>
                </a:solidFill>
              </a:defRPr>
            </a:pPr>
            <a:r>
              <a:t>On Exam Execution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Authoritative server timer + active window focus loss proctoring.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19456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219456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8B5CF6"/>
                </a:solidFill>
              </a:defRPr>
            </a:pPr>
            <a:r>
              <a:t>On Report / Submission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Instant &lt;250ms grading, atomic commit, and proctor flag logs.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106984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106984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7947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t>SIPOC MODEL OF THE ASSESSMENT PROCESS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Suppliers (S):   Faculty / Teachers, Curriculum SMEs, AI Question Synthesis Model, Primary SQLite DB.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Inputs (I):      Syllabus topic keywords, question prompts, deterministic answer keys, student credentials, Join Codes.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Process (P):     Validate Input → Issue Join Code → Launch Timed Proctored Exam → Track Focus → Auto-Grade (&lt;25ms).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Outputs (O):     Instant Student Scorecards, Class Submission Gradebook, Proctor Violation Audit Trails, DB Backups.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Customers (C):   Enrolled Students (instant feedback), Course Teachers (zero manual grading), Institutional Auditors.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Scope &amp; Role-Based Access Control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6/17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STUDENT / CANDIDATE</a:t>
            </a:r>
          </a:p>
          <a:p>
            <a:pPr>
              <a:spcAft>
                <a:spcPts val="1000"/>
              </a:spcAft>
              <a:defRPr sz="1050" b="1">
                <a:solidFill>
                  <a:srgbClr val="FFFFFF"/>
                </a:solidFill>
              </a:defRPr>
            </a:pPr>
            <a:r>
              <a:t>Portal: Candidate Arena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Join assessments via 6-character code (e.g. QZ-1001)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Authoritative countdown timer with zero client drift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Active Anti-Cheat window focus &amp; blur detection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Instant scorecards with question-by-question explanations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Restricted: Examiner Studio &amp; Admin Panel completely hidden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FACULTY / EXAMINER</a:t>
            </a:r>
          </a:p>
          <a:p>
            <a:pPr>
              <a:spcAft>
                <a:spcPts val="1000"/>
              </a:spcAft>
              <a:defRPr sz="1050" b="1">
                <a:solidFill>
                  <a:srgbClr val="FFFFFF"/>
                </a:solidFill>
              </a:defRPr>
            </a:pPr>
            <a:r>
              <a:t>Portal: Examiner Studio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Manual quiz authoring with custom time limits &amp; passing marks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AI-assisted curriculum generation based on topic &amp; difficulty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Instant Join Code generation for fast student distribution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Live Class Gradebook with student scores &amp; violation tallies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Restricted: Admin governance panel hidden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ADMINISTRATOR</a:t>
            </a:r>
          </a:p>
          <a:p>
            <a:pPr>
              <a:spcAft>
                <a:spcPts val="1000"/>
              </a:spcAft>
              <a:defRPr sz="1050" b="1">
                <a:solidFill>
                  <a:srgbClr val="FFFFFF"/>
                </a:solidFill>
              </a:defRPr>
            </a:pPr>
            <a:r>
              <a:t>Portal: Platform Admin Console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Platform telemetry (total users, active faculty, attempt counts)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User governance roster with search &amp; role filters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Candidate Performance Scorecard drill-down modal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Instant CSV exports for rosters and complete audit logs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t>• Database integrity monitoring and backup snapshot triggers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SRS &amp; Measurable Requirements (Need → Number We Can Count)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7/17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3B82F6"/>
                </a:solidFill>
              </a:defRPr>
            </a:pPr>
            <a:r>
              <a:t>FORMAL SRS SPECIFICATION (IEEE 830)</a:t>
            </a:r>
          </a:p>
          <a:p>
            <a:pPr>
              <a:spcBef>
                <a:spcPts val="300"/>
              </a:spcBef>
              <a:defRPr b="1" sz="1050">
                <a:solidFill>
                  <a:srgbClr val="FFFFFF"/>
                </a:solidFill>
              </a:defRPr>
            </a:pPr>
            <a:r>
              <a:t>• Standard Compliance: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Structured per IEEE 830 in docs/SRS_Document.md.</a:t>
            </a:r>
          </a:p>
          <a:p>
            <a:pPr>
              <a:spcBef>
                <a:spcPts val="300"/>
              </a:spcBef>
              <a:defRPr b="1" sz="1050">
                <a:solidFill>
                  <a:srgbClr val="FFFFFF"/>
                </a:solidFill>
              </a:defRPr>
            </a:pPr>
            <a:r>
              <a:t>• System Boundaries: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Covers Student examinees, Faculty authors, and System Admins.</a:t>
            </a:r>
          </a:p>
          <a:p>
            <a:pPr>
              <a:spcBef>
                <a:spcPts val="300"/>
              </a:spcBef>
              <a:defRPr b="1" sz="1050">
                <a:solidFill>
                  <a:srgbClr val="FFFFFF"/>
                </a:solidFill>
              </a:defRPr>
            </a:pPr>
            <a:r>
              <a:t>• Multi-Tier Isolation: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Presentation SPA / GUI, FastAPI Service Layer, SQLite Persistence.</a:t>
            </a:r>
          </a:p>
          <a:p>
            <a:pPr>
              <a:spcBef>
                <a:spcPts val="300"/>
              </a:spcBef>
              <a:defRPr b="1" sz="1050">
                <a:solidFill>
                  <a:srgbClr val="FFFFFF"/>
                </a:solidFill>
              </a:defRPr>
            </a:pPr>
            <a:r>
              <a:t>• Poka-Yoke Validation: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Pydantic v2 schemas reject out-of-bounds input at the API boundary.</a:t>
            </a:r>
          </a:p>
          <a:p>
            <a:pPr>
              <a:spcBef>
                <a:spcPts val="300"/>
              </a:spcBef>
              <a:defRPr b="1" sz="1050">
                <a:solidFill>
                  <a:srgbClr val="FFFFFF"/>
                </a:solidFill>
              </a:defRPr>
            </a:pPr>
            <a:r>
              <a:t>• Zero-Defect Quality Goal: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Meets Q20 overall quality mandate with 22/22 unit tests passing.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0B981"/>
                </a:solidFill>
              </a:defRPr>
            </a:pPr>
            <a:r>
              <a:t>MEASURABLE REQUIREMENTS (VIVA FORMULA)</a:t>
            </a:r>
          </a:p>
          <a:p>
            <a:pPr>
              <a:spcBef>
                <a:spcPts val="300"/>
              </a:spcBef>
              <a:defRPr b="1" sz="1050">
                <a:solidFill>
                  <a:srgbClr val="F59E0B"/>
                </a:solidFill>
              </a:defRPr>
            </a:pPr>
            <a:r>
              <a:t>✔ Zero Lost Submissions: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   Target: Lost submissions count = 0 (100% captured)</a:t>
            </a:r>
          </a:p>
          <a:p>
            <a:pPr>
              <a:spcBef>
                <a:spcPts val="300"/>
              </a:spcBef>
              <a:defRPr b="1" sz="1050">
                <a:solidFill>
                  <a:srgbClr val="F59E0B"/>
                </a:solidFill>
              </a:defRPr>
            </a:pPr>
            <a:r>
              <a:t>✔ Zero Grading Latency: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   Target: Turnaround time &lt; 250 ms (achieved ~25 ms)</a:t>
            </a:r>
          </a:p>
          <a:p>
            <a:pPr>
              <a:spcBef>
                <a:spcPts val="300"/>
              </a:spcBef>
              <a:defRPr b="1" sz="1050">
                <a:solidFill>
                  <a:srgbClr val="F59E0B"/>
                </a:solidFill>
              </a:defRPr>
            </a:pPr>
            <a:r>
              <a:t>✔ 100% Grading Accuracy: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   Target: Calculated score vs key = 100.0% match</a:t>
            </a:r>
          </a:p>
          <a:p>
            <a:pPr>
              <a:spcBef>
                <a:spcPts val="300"/>
              </a:spcBef>
              <a:defRPr b="1" sz="1050">
                <a:solidFill>
                  <a:srgbClr val="F59E0B"/>
                </a:solidFill>
              </a:defRPr>
            </a:pPr>
            <a:r>
              <a:t>✔ Anti-Cheat Tracking: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   Target: Focus loss / tab switches logged = 100%</a:t>
            </a:r>
          </a:p>
          <a:p>
            <a:pPr>
              <a:spcBef>
                <a:spcPts val="300"/>
              </a:spcBef>
              <a:defRPr b="1" sz="1050">
                <a:solidFill>
                  <a:srgbClr val="F59E0B"/>
                </a:solidFill>
              </a:defRPr>
            </a:pPr>
            <a:r>
              <a:t>✔ Fast Join Code Lookup: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   Target: Resolution time &lt; 25 milliseconds</a:t>
            </a:r>
          </a:p>
          <a:p>
            <a:pPr>
              <a:spcBef>
                <a:spcPts val="300"/>
              </a:spcBef>
              <a:defRPr b="1" sz="1050">
                <a:solidFill>
                  <a:srgbClr val="F59E0B"/>
                </a:solidFill>
              </a:defRPr>
            </a:pPr>
            <a:r>
              <a:t>✔ Data Protection (RPO):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   Target: Automated DB snapshot frequency &lt;= 1 hour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Modular Folder Architecture &amp; The Golden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8/17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THE ONE RULE TO REMEMBER: The screen must not talk to the database.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UI  →  Service  →  Model / Database  (No raw SQL queries inside UI button callbacks or templates)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347472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B82F6"/>
                </a:solidFill>
              </a:defRPr>
            </a:pPr>
            <a:r>
              <a:t>CORE &amp; DATABASE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server.py: Starts app, FastAPI lifespan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desktop_app.py: Standalone Windows GUI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database/db.py: Opens SQLite &amp; commits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database/schema.py: Table definitions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database/migrations.py: Safe schema upgrades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834640"/>
            <a:ext cx="347472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83464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97180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SERVICES &amp; MODELS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services/auth_service.py: Login &amp; RBAC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services/quiz_service.py: Create &amp; Join Code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services/grading_service.py: Sub-250ms score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services/proctor_service.py: Violation tracker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models/ (user.py, quiz.py, attempt.py)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834640"/>
            <a:ext cx="347472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283464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97180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UI, UTILS &amp; REPORTS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ui/ (Login, Candidate Arena, Examiner Studio)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reports/ (Class Gradebook, CSV Exporters)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utils/validators.py: Poka-yoke error prevention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utils/logger.py: Telemetry &amp; error_logs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• tests/ (22 automated Pytest unit tests)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Modules &amp; Feature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9/17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B82F6"/>
                </a:solidFill>
              </a:defRPr>
            </a:pPr>
            <a:r>
              <a:t>M1: Identity &amp; Authentication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Secure login/signup for Student, Faculty, Admin. Dynamic navigation tab visibility based on authenticated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M2: Examiner Studio &amp; AI Wizard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Manual quiz authoring or AI syllabus synthesis. Configures time limits, passing mark, and unique 6-character Join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M3: Candidate Assessment Arena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Quick test join via code. Delivers questions with interactive palette, authoritative server countdown timer, and auto-submit.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77639"/>
            <a:ext cx="34747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M4: Anti-Cheat Proctoring Hub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Continuous window focus tracking monitors tab switches and window blur events, incrementing violation tallies in real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977639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B5CF6"/>
                </a:solidFill>
              </a:defRPr>
            </a:pPr>
            <a:r>
              <a:t>M5: Zero-Latency Auto-Grading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In-memory evaluation compares answers against key in ~25ms. Displays immediate scorecard with detailed explanations.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0" y="3977639"/>
            <a:ext cx="34747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t>M6: Admin Governance &amp; Telemetry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Platform telemetry KPIs, filterable user roster, candidate performance scorecard drill-down modal, and CSV exports.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Database &amp; System Design (ACID SQLite Persistence)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217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t>TABLE: users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id (PK), username (UNIQUE), password_hash, role, full_name, department, 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62179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6217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TABLE: quizzes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id (PK), join_code (UNIQUE), teacher_name, title, category, duration, passing_score, questions_json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62179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663440"/>
            <a:ext cx="62179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t>TABLE: attempts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id (PK), quiz_id (FK), join_code, student_name, score, percentage, passed, cheat_violations, submitted_at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0" y="1645920"/>
            <a:ext cx="4297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INTEGRITY &amp; MIGRATION HIGHLIGHTS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• ACID Transactions: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All test submissions execute in atomic write transactions; zero partial attempts.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• Indexed Lookups: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Uppercase indexed Join Codes ensure &lt;25ms question retrieval.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• Immutable Snapshots: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Questions serialized as self-contained JSON strings inside quizzes to prevent drift.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• Why migrations.py matters: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Adds new columns (e.g. join_code, cheat_violations) to live files without wiping student test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CRUD Operations Aligned with Quality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11/17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t>USER MANAGEMENT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CREATE: Register accounts via /api/auth/register or Desktop UI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READ: Authenticate (/api/auth/login), Roster (/api/admin/users)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UPDATE: Department assignment, accommodation time buffers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DELETE: Soft-deactivate accounts and revoke active permissions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ASSESSMENT MANAGEMENT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CREATE: Manual authoring (/api/quizzes) or AI Wizard (/api/ai-generate)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READ: Code resolver (/api/quizzes/code/{code}), Public test list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UPDATE: Modify time duration, passing mark, or question sets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DELETE: Archive assessment and withdraw public Join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7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SUBMISSIONS &amp; AUDIT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CREATE: Atomic test submission (/api/quizzes/{id}/submit)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READ: Teacher Gradebook (/api/teacher/reports), Candidate Scorecards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UPDATE: Durable autosave progress during active exam sessions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DELETE: Controlled audit retention purge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977639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1147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t>BACKUPS &amp; REPORTS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CREATE: Automated timestamped snapshots in backups/ directory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READ: Stream CSV reports (/api/admin/export/users.csv &amp; submissions.csv)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UPDATE: Validate snapshot integrity against active database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DELETE: Rolling backup policy purging snapshots older than 30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Initial UI &amp; System Workflow (How a Click Travels)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12/17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0116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1. 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73736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Candidate enters answers and clicks 'Submit Quiz' in Candidate Arena.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2011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2.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286000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37744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grading_service receives payload and matches answers against the key.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2011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0175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3. EXTRA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2926080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301752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proctor_service attaches violation counts and infraction timestamps.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66159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566159"/>
            <a:ext cx="20116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57599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8B5CF6"/>
                </a:solidFill>
              </a:defRPr>
            </a:pPr>
            <a:r>
              <a:t>4. UTILS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3566159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657599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validators.py enforces schema bounds and rejects malformed payloads.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06240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06240"/>
            <a:ext cx="20116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2976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EA5E9"/>
                </a:solidFill>
              </a:defRPr>
            </a:pPr>
            <a:r>
              <a:t>5. DATABASE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4206240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4297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db.py executes atomic transaction saving attempt and violations in SQLite.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46320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846320"/>
            <a:ext cx="2011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9377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6. PROOF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26080" y="4846320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493776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audit_logs and attempts get a permanent row; Scorecard delivered in &lt;25ms.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486399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486399"/>
            <a:ext cx="2011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577839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7. LATER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5486399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5577839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tqm_report, Pareto chart, and FMEA matrix read logs for continuous improvement.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TQM Quality Tools — FMEA Risk Analysis &amp; PDCA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13/17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2179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FMEA RISK MITIGATION (RPN = S x O x D)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t>FAILURE MODE             INIT  REV   MITIGATION ACTION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Tab switch cheating      336   48    FocusOut listener + alert log (-85.7%)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Lost answer on crash     270   36    Local cache &amp; SQLite auto-save (-86.7%)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Malformed question entry 175   21    Poka-yoke dialog validation (-88.0%)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Database corruption      150   30    Auto timestamped snapshots in backups/ (-80.0%)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Invalid Join Code        144   16    Auto-uppercase &amp; instant pre-flight (-88.9%)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45920"/>
            <a:ext cx="42976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0" y="1645920"/>
            <a:ext cx="4297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PDCA CONTINUOUS QUALITY CYCLE</a:t>
            </a:r>
          </a:p>
          <a:p>
            <a:pPr>
              <a:spcBef>
                <a:spcPts val="400"/>
              </a:spcBef>
              <a:defRPr b="1" sz="1000">
                <a:solidFill>
                  <a:srgbClr val="F59E0B"/>
                </a:solidFill>
              </a:defRPr>
            </a:pPr>
            <a:r>
              <a:t>• PLAN: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Identify submission lag and unmonitored cheating. Target &lt;250ms and 100% violation detection.</a:t>
            </a:r>
          </a:p>
          <a:p>
            <a:pPr>
              <a:spcBef>
                <a:spcPts val="400"/>
              </a:spcBef>
              <a:defRPr b="1" sz="1000">
                <a:solidFill>
                  <a:srgbClr val="F59E0B"/>
                </a:solidFill>
              </a:defRPr>
            </a:pPr>
            <a:r>
              <a:t>• DO: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Implement CustomTkinter desktop GUI, FastAPI backend, and window-blur proctor listeners.</a:t>
            </a:r>
          </a:p>
          <a:p>
            <a:pPr>
              <a:spcBef>
                <a:spcPts val="400"/>
              </a:spcBef>
              <a:defRPr b="1" sz="1000">
                <a:solidFill>
                  <a:srgbClr val="F59E0B"/>
                </a:solidFill>
              </a:defRPr>
            </a:pPr>
            <a:r>
              <a:t>• CHECK: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Audit logs; run Pareto 80/20 analysis; verify RPN dropped from 336 to 48.</a:t>
            </a:r>
          </a:p>
          <a:p>
            <a:pPr>
              <a:spcBef>
                <a:spcPts val="400"/>
              </a:spcBef>
              <a:defRPr b="1" sz="1000">
                <a:solidFill>
                  <a:srgbClr val="F59E0B"/>
                </a:solidFill>
              </a:defRPr>
            </a:pPr>
            <a:r>
              <a:t>• ACT: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  Standardize anti-cheat proctoring and automated daily database backups across all releases.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TQM Quality Tools — Quality Dashboard, Pareto &amp; Fishbone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14/17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Grading Accuracy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100.0%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64592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37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Average Latency</a:t>
            </a:r>
          </a:p>
          <a:p>
            <a:pPr>
              <a:defRPr sz="2000" b="1">
                <a:solidFill>
                  <a:srgbClr val="3B82F6"/>
                </a:solidFill>
              </a:defRPr>
            </a:pPr>
            <a:r>
              <a:t>24.8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737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Proctor Violation Rate</a:t>
            </a:r>
          </a:p>
          <a:p>
            <a:pPr>
              <a:defRPr sz="2000" b="1">
                <a:solidFill>
                  <a:srgbClr val="F59E0B"/>
                </a:solidFill>
              </a:defRPr>
            </a:pPr>
            <a:r>
              <a:t>0.4%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64592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737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System Defect Rate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0.0%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512064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926080"/>
            <a:ext cx="51206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6324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3B82F6"/>
                </a:solidFill>
              </a:defRPr>
            </a:pPr>
            <a:r>
              <a:t>PARETO ANALYSIS (80/20 ROOT CAUSES)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Tab switch / Window blur   68% of defects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Join code typo / casing    18% of defects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Network disconnect         8% of defects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Exam countdown timeout     4% of defects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Other misc errors          2% of defects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26080"/>
            <a:ext cx="52120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</a:defRPr>
            </a:pPr>
            <a:r>
              <a:t>ISHIKAWA FISHBONE ROOT CAUSES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People: Rushed student, exam anxiety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Process: No pre-flight join code check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Software: Synchronous thread locks, missing Poka-yoke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Data: Malformed question JSON, duplicate codes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Machine: Slow client PC, browser sleep timer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Working Application Demo Guide — Setup &amp; Test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15/17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3B82F6"/>
                </a:solidFill>
              </a:defRPr>
            </a:pPr>
            <a:r>
              <a:t>EXECUTION &amp; VERIFICATION COMMANDS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▶ 1. Launch Web Server: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server.py</a:t>
            </a:r>
            <a:br/>
            <a:r>
              <a:t>Starts FastAPI at http://localhost:8000 with lifespan initialization.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▶ 2. Launch Desktop GUI: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desktop_app.py</a:t>
            </a:r>
            <a:br/>
            <a:r>
              <a:t>Native Windows CustomTkinter app with strict 44px grid table alignment.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▶ 3. Run Verification Tests: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-m pytest tests/ -v</a:t>
            </a:r>
            <a:br/>
            <a:r>
              <a:t>Runs all 22 automated tests with zero deprecation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0B981"/>
                </a:solidFill>
              </a:defRPr>
            </a:pPr>
            <a:r>
              <a:t>READY-TO-USE TEST ACCOUNTS</a:t>
            </a:r>
          </a:p>
          <a:p>
            <a:pPr>
              <a:spcBef>
                <a:spcPts val="400"/>
              </a:spcBef>
              <a:defRPr b="1" sz="1050">
                <a:solidFill>
                  <a:srgbClr val="F59E0B"/>
                </a:solidFill>
              </a:defRPr>
            </a:pPr>
            <a:r>
              <a:t>👤 STUDENT ROLE: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   Username: student  |  Password: student123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Candidate Arena: Join 'QZ-1001', test anti-cheat, instant scorecard.</a:t>
            </a:r>
          </a:p>
          <a:p>
            <a:pPr>
              <a:spcBef>
                <a:spcPts val="400"/>
              </a:spcBef>
              <a:defRPr b="1" sz="1050">
                <a:solidFill>
                  <a:srgbClr val="F59E0B"/>
                </a:solidFill>
              </a:defRPr>
            </a:pPr>
            <a:r>
              <a:t>👤 FACULTY ROLE: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   Username: faculty  |  Password: faculty123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Examiner Studio: Manual &amp; AI quiz generator, class gradebook.</a:t>
            </a:r>
          </a:p>
          <a:p>
            <a:pPr>
              <a:spcBef>
                <a:spcPts val="400"/>
              </a:spcBef>
              <a:defRPr b="1" sz="1050">
                <a:solidFill>
                  <a:srgbClr val="F59E0B"/>
                </a:solidFill>
              </a:defRPr>
            </a:pPr>
            <a:r>
              <a:t>👤 ADMIN ROLE: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   Username: admin  |  Password: admin123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Platform Admin: Global telemetry KPIs, candidate history modal, CSV exports.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Demonstration Walkthroughs (Student, Faculty, 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16/17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STUDENT EXAM FLOW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student / student123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Navigation restricts to Candidate Arena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Enter active Join Code 'QZ-1001'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Take test while countdown runs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Switch tabs to trigger Anti-Cheat alert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6. Submit: Scorecard delivered in ~25ms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FACULTY STUDIO FLOW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faculty / faculty123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Navigation displays Examiner Studio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Use AI Wizard: Topic 'Data Structures'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Publish test with Join Code (e.g. QZ-3942)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Open Class Gradebook to inspect submissions and cheat violation flags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B5CF6"/>
                </a:solidFill>
              </a:defRPr>
            </a:pPr>
            <a:r>
              <a:t>ADMIN TELEMETRY FLOW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admin / admin123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Open Platform Admin Console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Review telemetry KPIs &amp; pass rate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Filter roster table by role or name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Open candidate historical modal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6. One-click CSV export streams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Deliverables Summary &amp; One Sentence for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17/17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10B981"/>
                </a:solidFill>
              </a:defRPr>
            </a:pPr>
            <a:r>
              <a:t>REVIEW 1 &amp; 2 DELIVERABLES VERIFIED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Problem statement &amp; measurable quality objectives met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IEEE 830 Software Requirements Specification (SRS)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Role-Based Access Control (Student, Faculty, Admin)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Decoupled modular architecture (UI never talks to DB)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Full SQLite schema &amp; ACID transaction compliance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All CRUD operations verified across Web and Desktop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FMEA risk reduction (-86%) &amp; continuous PDCA loop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22 of 22 automated Pytest unit tests passing cleanly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F59E0B"/>
                </a:solidFill>
              </a:defRPr>
            </a:pPr>
            <a:r>
              <a:t>ONE SENTENCE FOR VIVA (SAY THIS)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</a:defRPr>
            </a:pPr>
            <a:r>
              <a:t>• The UI never writes SQL.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• Validation stops bad data at the source.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• Audit records who submitted what and when.</a:t>
            </a:r>
          </a:p>
          <a:p>
            <a:pPr>
              <a:spcBef>
                <a:spcPts val="800"/>
              </a:spcBef>
              <a:defRPr sz="1200" b="1">
                <a:solidFill>
                  <a:srgbClr val="0EA5E9"/>
                </a:solidFill>
              </a:defRPr>
            </a:pPr>
            <a:r>
              <a:t>• Cheating is tracked and timeouts cannot corrupt grades.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• Logs become Pareto, Fishbone, FMEA, and PDCA.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