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92608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Process map, stakeholders,</a:t>
            </a:r>
            <a:br/>
            <a:r>
              <a:t>measurable requirements, quality goals</a:t>
            </a:r>
          </a:p>
          <a:p>
            <a:pPr>
              <a:spcBef>
                <a:spcPts val="800"/>
              </a:spcBef>
              <a:defRPr sz="1800">
                <a:solidFill>
                  <a:srgbClr val="3B82F6"/>
                </a:solidFill>
              </a:defRPr>
            </a:pPr>
            <a:r>
              <a:t>Online Quiz System (QuizSphere Pro) — Baseline System 9</a:t>
            </a:r>
            <a:br/>
            <a:r>
              <a:t>Q20: Overall Software Quality &amp; Zero-Latency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B82F6"/>
                </a:solidFill>
              </a:defRPr>
            </a:pPr>
            <a:r>
              <a:t>COURSE &amp; BASELINE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BBAT104: Fundamentals of TQM</a:t>
            </a:r>
            <a:br/>
            <a:r>
              <a:t>Baseline System 9: Online Quiz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36576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365760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840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ASSIGNED QUALITY GOAL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Q20: Overall Software Quality</a:t>
            </a:r>
            <a:br/>
            <a:r>
              <a:t>Dashboards, Validation, Export &amp; Backups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6576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365760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840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CORE OBJECTIVE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Zero-Latency Evaluation (&lt;250ms)</a:t>
            </a:r>
            <a:br/>
            <a:r>
              <a:t>100% Deterministic Auto-Grading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657600"/>
            <a:ext cx="2560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3657600"/>
            <a:ext cx="25603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840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8B5CF6"/>
                </a:solidFill>
              </a:defRPr>
            </a:pPr>
            <a:r>
              <a:t>ARCHITECTURE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FastAPI REST/WebSocket Backend</a:t>
            </a:r>
            <a:br/>
            <a:r>
              <a:t>Native CustomTkinter Desktop Client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Vision, mission, quality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VISION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An examination environment where zero unrecorded answers, zero grading latency, and zero undetected academic infractions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5468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4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MISSION</a:t>
            </a:r>
          </a:p>
          <a:p>
            <a:pPr>
              <a:defRPr sz="1300" b="0">
                <a:solidFill>
                  <a:srgbClr val="FFFFFF"/>
                </a:solidFill>
              </a:defRPr>
            </a:pPr>
            <a:r>
              <a:t>Build a high-performance assessment system (Web &amp; Desktop) that records student attempts, blocks cheating via active proctoring, auto-grades in &lt;250ms, and shows who did what.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663440"/>
            <a:ext cx="106984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10149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QUALITY OBJECTIVE OF THIS SOFTWARE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Prevent the error at the source (Poka-yoke).</a:t>
            </a:r>
            <a:br/>
            <a:r>
              <a:t>Control the examination process.</a:t>
            </a:r>
            <a:br/>
            <a:r>
              <a:t>Monitor every attempt and infraction with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Three quality ideas behind the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Error prevention at source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Poka-yoke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Blank question prompt blocked.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Missing correct choice blocked.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Duration &lt;= 0 or &gt;180m blocked.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Duplicate Join Code blocked.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Process control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One path for work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Quiz Authoring → Join Code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→ Timed Exam → Scorecard.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UI cannot skip rules.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Student cannot bypass countdown.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Monitoring</a:t>
            </a:r>
          </a:p>
          <a:p>
            <a:pPr>
              <a:spcAft>
                <a:spcPts val="1200"/>
              </a:spcAft>
              <a:defRPr sz="1100">
                <a:solidFill>
                  <a:srgbClr val="CBD5E1"/>
                </a:solidFill>
              </a:defRPr>
            </a:pPr>
            <a:r>
              <a:t>See and trace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Dashboard KPI alerts.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Proctor infraction audit log.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Student attempt telemetry.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Error log → FMEA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Process map &amp; controls sitting on this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645920" cy="68580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Teacher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645920"/>
            <a:ext cx="1645920" cy="68580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Quiz Creation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1645920" cy="68580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Join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59" y="1645920"/>
            <a:ext cx="1645920" cy="68580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645920"/>
            <a:ext cx="1645920" cy="68580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Exam Execution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46920" y="1645920"/>
            <a:ext cx="1645920" cy="685800"/>
          </a:xfrm>
          <a:prstGeom prst="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Controls sitting on this 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175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546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3B82F6"/>
                </a:solidFill>
              </a:defRPr>
            </a:pPr>
            <a:r>
              <a:t>On Quiz Creation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Title, passing score (1-100%), duration, and question choices must be valid.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01752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0175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1546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On Join Code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Normalization to uppercase, SQL uniqueness check, sub-25ms resolution.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5212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00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</a:defRPr>
            </a:pPr>
            <a:r>
              <a:t>On Exam Execution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Authoritative server timer countdown + window blur focus loss 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663440"/>
            <a:ext cx="521208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66344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800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8B5CF6"/>
                </a:solidFill>
              </a:defRPr>
            </a:pPr>
            <a:r>
              <a:t>On Report / Submission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Measure latency (&lt;250ms), grade deterministically, and record cheat flags.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SIPOC of the examination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0574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3B82F6"/>
                </a:solidFill>
              </a:defRPr>
            </a:pPr>
            <a:r>
              <a:t>S (Suppliers)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Teacher / Faculty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Curriculum SME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AI Engine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164592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9504" y="1645920"/>
            <a:ext cx="2057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182880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I (Inputs)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Question Prompts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Answer Key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Duration Bounds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Candidate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64592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47488" y="1645920"/>
            <a:ext cx="2057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182880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F59E0B"/>
                </a:solidFill>
              </a:defRPr>
            </a:pPr>
            <a:r>
              <a:t>P (Process)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Validate Entry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Generate Code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Host Timed Exam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Track Window Blur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Auto-grade &amp; Save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164592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5472" y="1645920"/>
            <a:ext cx="20574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182880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8B5CF6"/>
                </a:solidFill>
              </a:defRPr>
            </a:pPr>
            <a:r>
              <a:t>O (Outputs)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Instant Scorecard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Question Breakdown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Class Gradebook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Violation Audit 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63456" y="1645920"/>
            <a:ext cx="20574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456" y="1645920"/>
            <a:ext cx="20574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6" y="1828800"/>
            <a:ext cx="1783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EA5E9"/>
                </a:solidFill>
              </a:defRPr>
            </a:pPr>
            <a:r>
              <a:t>C (Customers)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Student / Examinee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Teacher / Examiner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System Admin</a:t>
            </a:r>
          </a:p>
          <a:p>
            <a:pPr>
              <a:spcBef>
                <a:spcPts val="600"/>
              </a:spcBef>
              <a:defRPr sz="1000">
                <a:solidFill>
                  <a:srgbClr val="FFFFFF"/>
                </a:solidFill>
              </a:defRPr>
            </a:pPr>
            <a:r>
              <a:t>• Academic Auditor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Stakeholders and their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Student / Candidate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45920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78308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Zero latency during submission. Transparent scorecard. Fair timer.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2032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42032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7919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Teacher / Examiner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542032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679192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Fast quiz creation (manual &amp; AI). Quick join code. Live class gradebook.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2926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75304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Administrator /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438144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575304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User governance, platform telemetry numbers, CSV audit exports.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34256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7141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Academic Auditor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334256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471416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Who submitted what, exact timestamps, and proctoring violation logs.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30368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30368"/>
            <a:ext cx="2926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67528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Institution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230368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5367528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Zero exam downtime. High academic integrity. Automated database backups.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Measurable requirements (viva)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Need → number we can 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206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Zero lost submissions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39496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69164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0136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Submission loss count = 0 (100% recorded)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51206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7860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Zero grading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468880"/>
            <a:ext cx="539496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46888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57860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Submission turnaround time &lt; 250 ms (achieved ~25 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46120"/>
            <a:ext cx="51206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5584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100% grading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246120"/>
            <a:ext cx="539496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24612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35584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Score calculation consistency = 100.0% (Zero Defect)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23360"/>
            <a:ext cx="51206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3308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Trace academic dishonesty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023360"/>
            <a:ext cx="539496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402336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13308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100% of window/tab switches logged with timestamp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00600"/>
            <a:ext cx="51206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1032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Find assessment fast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4800600"/>
            <a:ext cx="539496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480060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491032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Join Code resolution time &lt; 25 milliseconds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577840"/>
            <a:ext cx="512064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687568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Protect institutional 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5577840"/>
            <a:ext cx="539496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5577840"/>
            <a:ext cx="53949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68756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Hourly automated database snapshot in backups/ = 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Measurable quality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972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O1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1645920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783080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Zero lost submissions on any student attempt under peak concurrency.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2032"/>
            <a:ext cx="10972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42032"/>
            <a:ext cx="1097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9192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2542032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6791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Every test submission either saves fully (ACID) or not at 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10972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1097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75304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O3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11680" y="3438144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575304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Every user action and proctoring violation is captured in audit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10972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34256"/>
            <a:ext cx="10972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71416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</a:defRPr>
            </a:pPr>
            <a:r>
              <a:t>O4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334256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4471416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Automated database backup file created at least once a day.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30368"/>
            <a:ext cx="10972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30368"/>
            <a:ext cx="10972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67528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O5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5230368"/>
            <a:ext cx="94183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5367528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Login and code validation fail safely. App does not crash.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Assigned quality goal Q20: Overall Software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Overall Software Quality — five features we built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Auto Backup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691640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82880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Automated timestamped copy of quiz_system.db saved in backups/.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87752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587752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Audit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587752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724912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User ID, action, join code, score, cheat violation tally, submission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83864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83864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Input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483864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621024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Poka-yoke prevents blank questions, negative limits, duplicate codes.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9976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79976"/>
            <a:ext cx="2926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1713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Error Recovery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379976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517136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ACID transactions: if save fails, show error. No half-graded attempt.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76088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276088"/>
            <a:ext cx="2926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13248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User Roles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5276088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413248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Student / Faculty / Admin only see their dedicated workflows.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 → quality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114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4114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Input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6400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783080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Error prevention at source (Poka-yoke)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2032"/>
            <a:ext cx="4114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42032"/>
            <a:ext cx="41148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User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542032"/>
            <a:ext cx="6400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679192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Process control + accountability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4114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41148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75304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Audit Log &amp; Violation Tracker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3438144"/>
            <a:ext cx="6400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575304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Monitoring + traceability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4114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34256"/>
            <a:ext cx="41148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71416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Error Recovery (ACID)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334256"/>
            <a:ext cx="6400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4471416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Reliability. No broken test submission.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30368"/>
            <a:ext cx="4114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30368"/>
            <a:ext cx="41148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67528"/>
            <a:ext cx="374903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Auto Backup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5230368"/>
            <a:ext cx="640080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367528"/>
            <a:ext cx="6035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Reliability. Data is never lost.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Crucial mapping (say this)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Customer need: 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Honest, fast, zero-latency assessment.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42032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542032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2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Measurable requirement: 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Turnaround latency &lt; 250ms, zero lost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38144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438144"/>
            <a:ext cx="106984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575304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Process control: 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Assessment cannot skip proctor check or code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34256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334256"/>
            <a:ext cx="106984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471416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Monitoring: 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Audit log + violation tracker + admin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30368"/>
            <a:ext cx="106984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5230368"/>
            <a:ext cx="106984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67528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Quality goal:  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Q20 Overall Software Quality features above.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One-line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200" b="1">
                <a:solidFill>
                  <a:srgbClr val="FFFFFF"/>
                </a:solidFill>
              </a:defRPr>
            </a:pPr>
            <a:r>
              <a:t>Requirement: zero latency, zero cheating undetected.</a:t>
            </a:r>
          </a:p>
          <a:p>
            <a:pPr>
              <a:spcAft>
                <a:spcPts val="2800"/>
              </a:spcAft>
              <a:defRPr sz="2000" b="1">
                <a:solidFill>
                  <a:srgbClr val="3B82F6"/>
                </a:solidFill>
              </a:defRPr>
            </a:pPr>
            <a:r>
              <a:t>Objective: submissions graded &lt; 250ms, 100% tab switches logged.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How: validate at entry, control the exam path,</a:t>
            </a:r>
            <a:br/>
            <a:r>
              <a:t>monitor with audit and violation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CASE: Online Quiz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800" b="1">
                <a:solidFill>
                  <a:srgbClr val="3B82F6"/>
                </a:solidFill>
              </a:defRPr>
            </a:pPr>
            <a:r>
              <a:t>Online Quiz System (QuizSphere Pro)</a:t>
            </a:r>
          </a:p>
          <a:p>
            <a:pPr>
              <a:spcAft>
                <a:spcPts val="2800"/>
              </a:spcAft>
              <a:defRPr sz="2000">
                <a:solidFill>
                  <a:srgbClr val="FFFFFF"/>
                </a:solidFill>
              </a:defRPr>
            </a:pPr>
            <a:r>
              <a:t>Every folder, every screen, every table.</a:t>
            </a:r>
            <a:br/>
            <a:r>
              <a:t>Simple enough to explain from the last row.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Quality-oriented system  |  Modular design  |  TQM controls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each folder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7432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7432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ui/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77724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755648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what the user sees (Web SPA &amp; CustomTkinter Desktop)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27432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2743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services/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395728"/>
            <a:ext cx="77724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505456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business rules (auth, quiz, grading, proctoring)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45536"/>
            <a:ext cx="27432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45536"/>
            <a:ext cx="27432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55264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models/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145536"/>
            <a:ext cx="77724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3255264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what a User / Quiz / Attempt / Question 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95344"/>
            <a:ext cx="27432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95344"/>
            <a:ext cx="27432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05072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database/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895344"/>
            <a:ext cx="77724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005072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how data is stored (SQLite connection, schema, migrations)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45152"/>
            <a:ext cx="27432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645152"/>
            <a:ext cx="274320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548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reports/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645152"/>
            <a:ext cx="77724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4754880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numbers for decisions (gradebook, telemetry, CSV)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94959"/>
            <a:ext cx="27432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394959"/>
            <a:ext cx="2743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04687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server.py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0" y="5394959"/>
            <a:ext cx="777240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5504687"/>
            <a:ext cx="7406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starts the program only (FastAPI lifespan, zero raw SQL in UI)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this folder structure?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• One job per folder. Easy to explain.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• A bug in grading does not hide inside server.py or main.py.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• Validation and anti-cheat audit have a dedicated home.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• You can build and test one layer at a time (Pytest unit tests pass independently).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one rule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2800" b="1">
                <a:solidFill>
                  <a:srgbClr val="EF4444"/>
                </a:solidFill>
              </a:defRPr>
            </a:pPr>
            <a:r>
              <a:t>The screen must not talk to the database.</a:t>
            </a:r>
          </a:p>
          <a:p>
            <a:pPr>
              <a:spcAft>
                <a:spcPts val="2800"/>
              </a:spcAft>
              <a:defRPr sz="2400" b="1">
                <a:solidFill>
                  <a:srgbClr val="3B82F6"/>
                </a:solidFill>
              </a:defRPr>
            </a:pPr>
            <a:r>
              <a:t>UI  →  Service  →  Model / Database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No  SELECT * FROM quizzes  or  INSERT INTO attempts  inside UI buttons.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you must be able to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defRPr sz="1800" b="1">
                <a:solidFill>
                  <a:srgbClr val="FFFFFF"/>
                </a:solidFill>
              </a:defRPr>
            </a:pPr>
            <a:r>
              <a:t>1. What each folder is for</a:t>
            </a:r>
          </a:p>
          <a:p>
            <a:pPr>
              <a:spcBef>
                <a:spcPts val="1800"/>
              </a:spcBef>
              <a:defRPr sz="1800" b="1">
                <a:solidFill>
                  <a:srgbClr val="FFFFFF"/>
                </a:solidFill>
              </a:defRPr>
            </a:pPr>
            <a:r>
              <a:t>2. How a click travels: UI → Service → Database</a:t>
            </a:r>
          </a:p>
          <a:p>
            <a:pPr>
              <a:spcBef>
                <a:spcPts val="1800"/>
              </a:spcBef>
              <a:defRPr sz="1800" b="1">
                <a:solidFill>
                  <a:srgbClr val="FFFFFF"/>
                </a:solidFill>
              </a:defRPr>
            </a:pPr>
            <a:r>
              <a:t>3. What data sits in each table (users, quizzes, attempts, audit_logs)</a:t>
            </a:r>
          </a:p>
          <a:p>
            <a:pPr>
              <a:spcBef>
                <a:spcPts val="1800"/>
              </a:spcBef>
              <a:defRPr sz="1800" b="1">
                <a:solidFill>
                  <a:srgbClr val="F59E0B"/>
                </a:solidFill>
              </a:defRPr>
            </a:pPr>
            <a:r>
              <a:t>4. How this is TQM, not only CRUD (Poka-yoke, CTQ, FMEA, Pareto, PDCA)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 modular folder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CORE ROOT &amp; DATABASE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Online_Quiz_System/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server.py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desktop_app.py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ai_quiz_generator.py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quiz_system.db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database/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db.py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schema.py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└── migrations.py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└── backups/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SERVICES &amp; MODELS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services/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auth_service.py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quiz_service.py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grading_service.py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proctor_service.py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└── report_service.py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models/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user.py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quiz.py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└── attempt.py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UI, UTILS &amp; REPORTS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ui/ (Web SPA + Desktop)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login.py / auth.js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candidate_arena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├── examiner_studio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│   └── admin_panel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reports/ (gradebook, CSV)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├── utils/ (validators, logs)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</a:defRPr>
            </a:pPr>
            <a:r>
              <a:t>└── tests/ (22 passing unit tests)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each file does — start + config +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server.py / desktop_app.py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70408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Starts the app. Configures FastAPI lifespan, DB connection, routes, then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2032"/>
            <a:ext cx="3474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42032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79192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config / settings.py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542032"/>
            <a:ext cx="70408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79192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App name, DB path, test time limits, passing score defaults, join code prefix.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3474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75304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database / db.py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438144"/>
            <a:ext cx="70408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575304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Opens SQLite, runs parameterized queries, commits transactions, closes connections.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3474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34256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71416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database / schema.py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334256"/>
            <a:ext cx="70408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471416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Creates tables (users, quizzes, attempts, audit_logs) the first time the app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30368"/>
            <a:ext cx="34747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30368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67528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database / migrations.py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5230368"/>
            <a:ext cx="70408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367528"/>
            <a:ext cx="6675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Adds new columns later (e.g. join_code, cheat_violations) without wiping test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each file does —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A model is the object. Not the SQL. Not the screen.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models/user.py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691640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82880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User object: id, username, password_hash, role (student/faculty/admin), department.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87752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587752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models/quiz.py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587752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724912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Quiz object: id, join_code, teacher_name, title, category, duration, passing_score.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83864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83864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models/question.py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483864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621024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Question object: id, prompt, options (list), correct_index, explanation.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9976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79976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1713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models/attempt.py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379976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517136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Attempt object: id, quiz_id, student_name, score, percentage, passed, cheat_violations.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76088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276088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13248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models/violation.py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5276088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413248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Violation object: attempt_id, timestamp, event_type (window_blur, tab_switch).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each file does — services (The work happens here)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auth_service.py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45920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755648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Login, registration, password hashing, role permissions, token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05456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quiz_service.py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395728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505456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Create / edit quiz, generate unique 6-char Join Code, validate bounds.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45536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45536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55264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ai_service.py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145536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255264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Synthesize questions automatically from syllabus topic keywords &amp; difficulty.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95344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95344"/>
            <a:ext cx="2926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05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grading_service.py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895344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00507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Sub-250ms deterministic scoring pipeline, calculate percentage &amp; pass/fail.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45152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645152"/>
            <a:ext cx="2926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proctor_service.py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4645152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475488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Log window blur &amp; tab switch events, increment cheat violation tallies.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94959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394959"/>
            <a:ext cx="2926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7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report_service.py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5394959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5504687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Pull live class gradebook records, platform KPIs, stream CSV exports.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each file does — UI screens (What the person sees)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ui/login.py / auth.js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45920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78308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Username + password authentication dialog with role navigation dispatch.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42032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42032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7919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ui/candidate_arena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542032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679192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Join Code entry box, question navigation palette, authoritative countdown timer.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38144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38144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75304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ui/examiner_studio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438144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575304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Manual question bank builder + AI synthesis wizard with 6-char code publisher.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34256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334256"/>
            <a:ext cx="2926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7141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ui/gradebook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334256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471416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Class submission table with candidate scores, timestamps, and proctor flags.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30368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30368"/>
            <a:ext cx="2926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67528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ui/admin_panel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5230368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5367528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System KPI metrics, user roster table, and drill-down scorecard modal.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each file does — reports + utils +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reports/gradebook.py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645920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1755648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Class submission logs. Pass rate, highest/lowest scores, student rankings.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95728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05456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reports/tqm_report.py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395728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505456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Submission latency statistics, proctor violation rates, Pareto charts.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45536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145536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55264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utils/validators.py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0" y="3145536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255264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Poka-yoke: rejects empty questions, invalid time limits, duplicate codes.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95344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95344"/>
            <a:ext cx="2926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0507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utils/logger.py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895344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00507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Writes structured telemetry and errors into error_logs table.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45152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645152"/>
            <a:ext cx="2926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7548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utils/security.py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0" y="4645152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475488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Password hashing, role permissions verification, session persistence.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94959"/>
            <a:ext cx="29260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394959"/>
            <a:ext cx="2926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04687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assets/ (CSS + Themes)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5394959"/>
            <a:ext cx="758952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5504687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Consistent fonts, cream theme, dark contrast mode across every screen.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How a click uses these files (Candidate Submit Walkthrough)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1945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1945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1 Screen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645920"/>
            <a:ext cx="83210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7373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candidate_arena takes answers and clicks Submit.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21945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86000"/>
            <a:ext cx="21945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2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286000"/>
            <a:ext cx="83210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37744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grading_service checks answers against the key.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21945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21945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1752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3 Extra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2926080"/>
            <a:ext cx="83210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01752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proctor_service packages violation counts and timestamps.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66159"/>
            <a:ext cx="21945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566159"/>
            <a:ext cx="219456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657599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4 Utils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566159"/>
            <a:ext cx="83210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657599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validators.py rejects malformed or corrupted payloads.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21945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2194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29768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5 Database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4206240"/>
            <a:ext cx="83210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429768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db.py saves attempt, score, and violations in one ACID transaction.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846320"/>
            <a:ext cx="21945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846320"/>
            <a:ext cx="2194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37760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6 Proof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08960" y="4846320"/>
            <a:ext cx="83210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4937760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audit_logs and attempts get a permanent row (&lt;25ms).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486399"/>
            <a:ext cx="21945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486399"/>
            <a:ext cx="21945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577839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7 Later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08960" y="5486399"/>
            <a:ext cx="832104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5577839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tqm_report, Pareto chart, and FMEA matrix read those logs.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1 — request goes down (Multi-Tier Layers)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USER / EXAMINEE / ADMIN  — 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Student, Teacher, or Administrator interacting with the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5728"/>
            <a:ext cx="10698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95728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05456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UI LAYER  — 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Login  /  Candidate Arena  /  Examiner Studio  /  Admin Console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45536"/>
            <a:ext cx="10698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45536"/>
            <a:ext cx="106984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55264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SERVICE LAYER  — 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Business rules: Auth, Quiz Engine, AI Generator, Auto-Grading, Proctoring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95344"/>
            <a:ext cx="10698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95344"/>
            <a:ext cx="106984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05072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MODEL &amp; UTILITY LAYER  — 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User / Quiz / Attempt / Question  |  Poka-yoke Validation / Logger /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45152"/>
            <a:ext cx="10698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645152"/>
            <a:ext cx="106984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DATABASE LAYER  — 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ACID-compliant SQLite Engine (quiz_system.db)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94959"/>
            <a:ext cx="106984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94959"/>
            <a:ext cx="106984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04687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REPORTS / ANALYTICS  —  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Class Gradebook  /  Platform Telemetry  /  CSV Exports  /  TQM Charts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2 — quality loop (Data into TQM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B82F6"/>
                </a:solidFill>
              </a:defRPr>
            </a:pPr>
            <a:r>
              <a:t>UI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SERVICE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18288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REPORTS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1069848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106984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MODEL LAYER  |  DATABASE (SQLite)  |  UTILITY LOGGERS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5212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20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TRANSACTION DATA</a:t>
            </a:r>
            <a:br/>
            <a:r>
              <a:t>Every attempt, score, latency, and violation logged.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49039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886200"/>
            <a:ext cx="4846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TQM ANALYSIS → CONTINUOUS IMPROVEMENT</a:t>
            </a:r>
            <a:br/>
            <a:r>
              <a:t>Data from work becomes Pareto, Fishbone, FMEA, PDCA.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Quality is not an afterthought: Every exam submission directly feeds the TQM statistical feedback loop.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database / schema.py — tables we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3B82F6"/>
                </a:solidFill>
              </a:defRPr>
            </a:pPr>
            <a:r>
              <a:t>users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User accounts: student, faculty, admin with credentials &amp;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0B981"/>
                </a:solidFill>
              </a:defRPr>
            </a:pPr>
            <a:r>
              <a:t>quizzes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Assessments: join code, title, duration, pass score, questions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8B5CF6"/>
                </a:solidFill>
              </a:defRPr>
            </a:pPr>
            <a:r>
              <a:t>attempts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Submissions: student name, score, percentage, pass/fail, violations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5468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4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59E0B"/>
                </a:solidFill>
              </a:defRPr>
            </a:pPr>
            <a:r>
              <a:t>audit_logs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Immutable audit trail of all administrative and testing actions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5212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F4444"/>
                </a:solidFill>
              </a:defRPr>
            </a:pPr>
            <a:r>
              <a:t>error_logs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Technical errors and focus loss events feeding FMEA and Pareto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663440"/>
            <a:ext cx="521208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4663440"/>
            <a:ext cx="5212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800600"/>
            <a:ext cx="48463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EA5E9"/>
                </a:solidFill>
              </a:defRPr>
            </a:pPr>
            <a:r>
              <a:t>backups/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Automated timestamped snapshots of database states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users table — example rows &amp;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6858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LIVE USERS TABLE DATA (ACID PERSISTED)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</a:defRPr>
            </a:pPr>
            <a:r>
              <a:t>USER_ID      USERNAME   ROLE      NAME               DEPARTMENT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usr-admin    admin      ADMIN     System Administrator Operations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usr-fac-1    faculty    FACULTY   Prof. Alan Turing  Computer Science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usr-fac-2    sharma     FACULTY   Prof. R.K. Sharma  Information Tech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usr-stu-1    student    STUDENT   Alex Mercer        B.Tech CSE - 2026</a:t>
            </a:r>
          </a:p>
          <a:p>
            <a:pPr>
              <a:spcBef>
                <a:spcPts val="200"/>
              </a:spcBef>
              <a:defRPr sz="900">
                <a:solidFill>
                  <a:srgbClr val="FFFFFF"/>
                </a:solidFill>
              </a:defRPr>
            </a:pPr>
            <a:r>
              <a:t>usr-stu-2    priya      STUDENT   Priya Verma        B.Tech IT - 2026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645920"/>
            <a:ext cx="365760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45920"/>
            <a:ext cx="3657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</a:defRPr>
            </a:pPr>
            <a:r>
              <a:t>SECURITY &amp; AUDIT COLUMNS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t>• password_hash: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Never store plaintext in production. Store cryptographic hashes.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t>• role: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Restricts portal access: Student, Faculty, or Admin.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t>• department: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Groups cohorts for class gradebook filtering.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</a:defRPr>
            </a:pPr>
            <a:r>
              <a:t>• created_at: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Audit timestamp when account was registered.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quizzes and attempts tables — live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TABLE: quizzes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Code: QZ-1001  |  Python Core &amp; OOP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Teacher: Prof. Alan Turing • Duration: 10m • Pass: 70%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Code: QZ-2045  |  Data Structures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Teacher: Prof. Alan Turing • Duration: 15m • Pass: 75%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Code: QZ-3942  |  TQM Fundamentals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Teacher: Prof. R.K. Sharma • Duration: 12m • Pass: 65%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8B5CF6"/>
                </a:solidFill>
              </a:defRPr>
            </a:pPr>
            <a:r>
              <a:t>TABLE: attempts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Student: Alex Mercer  [QZ-1001]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Score: 5/5 (100%) • Result: PASSED • Proctor: 0 violations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Student: Priya Verma  [QZ-1001]</a:t>
            </a:r>
          </a:p>
          <a:p>
            <a:pPr>
              <a:defRPr sz="900">
                <a:solidFill>
                  <a:srgbClr val="10B981"/>
                </a:solidFill>
              </a:defRPr>
            </a:pPr>
            <a:r>
              <a:t>Score: 4/5 (80%) • Result: PASSED • Proctor: 1 tab switch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Student: Rahul Singh  [QZ-2045]</a:t>
            </a:r>
          </a:p>
          <a:p>
            <a:pPr>
              <a:defRPr sz="900">
                <a:solidFill>
                  <a:srgbClr val="EF4444"/>
                </a:solidFill>
              </a:defRPr>
            </a:pPr>
            <a:r>
              <a:t>Score: 2/5 (40%) • Result: FAILED • Proctor: 3 violations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audit_logs &amp; error_logs — feeding FMEA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AUDIT_LOGS — TRACEABILITY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Turing  →  CREATE_QUIZ [09:00]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Detail: QZ-1001 published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Mercer  →  SUBMIT_EXAM [09:15]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Detail: Score 100% (25ms latency)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Verma  →  TAB_BLUR [09:22]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Detail: Focus loss violation logged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Admin  →  EXPORT_CSV [10:00]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Detail: Class roster exported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F4444"/>
                </a:solidFill>
              </a:defRPr>
            </a:pPr>
            <a:r>
              <a:t>ERROR_LOGS — FOR FMEA LATER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[E01] window_blur (Tab switch)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Frequency: 18 occurrences • Last Seen: 11:12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[E02] blank_question_attempted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Frequency: 7 occurrences • Last Seen: 10:03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[E03] invalid_join_code_entered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Frequency: 11 occurrences • Last Seen: 11:40</a:t>
            </a:r>
          </a:p>
          <a:p>
            <a:pPr>
              <a:spcBef>
                <a:spcPts val="400"/>
              </a:spcBef>
              <a:defRPr b="1" sz="1000">
                <a:solidFill>
                  <a:srgbClr val="FFFFFF"/>
                </a:solidFill>
              </a:defRPr>
            </a:pPr>
            <a:r>
              <a:t>[E04] login_credential_mismatch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Frequency: 9 occurrences • Last Seen: 08:21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migrations.py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If you only edit schema.py and recreate the DB, student test data is wiped.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Migration dynamically inspects PRAGMA table_info and adds new columns to the live file.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Real project example: Added 'join_code' and 'cheat_violations' seamlessly to live database.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4. Review line: The database layer can grow without destroying historical examination records.</a:t>
            </a:r>
          </a:p>
          <a:p>
            <a:pPr>
              <a:spcBef>
                <a:spcPts val="1400"/>
              </a:spcBef>
              <a:defRPr sz="1600">
                <a:solidFill>
                  <a:srgbClr val="F59E0B"/>
                </a:solidFill>
              </a:defRPr>
            </a:pPr>
            <a:r>
              <a:t>5. TQM link: Maintainability, data durability, and process control.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Software feature → TQM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5564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Modular architecture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Process / system 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5564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Validation (Poka-yoke)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Error prevention at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2432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Audit log &amp; Telemetry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Traceability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51460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62432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User roles (RBAC)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Accountability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9300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Anti-Cheat Proctoring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Process control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8328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49300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Quality dashboard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Data-driven decisions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59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61687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Pareto chart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Root-cause prioritization (80/20)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251959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361687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Fishbone diagram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Causal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3036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FMEA matrix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Risk mitigation &amp; RPN reduction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5120640"/>
            <a:ext cx="5212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5230368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PDCA cycle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→ Continuous improvement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Quality dashboard (Real-time telemetry)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BD5E1"/>
                </a:solidFill>
              </a:defRPr>
            </a:pPr>
            <a:r>
              <a:t>Grading Accuracy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100.0%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BD5E1"/>
                </a:solidFill>
              </a:defRPr>
            </a:pPr>
            <a:r>
              <a:t>Average Submission Latency</a:t>
            </a:r>
          </a:p>
          <a:p>
            <a:pPr>
              <a:defRPr sz="3200" b="1">
                <a:solidFill>
                  <a:srgbClr val="3B82F6"/>
                </a:solidFill>
              </a:defRPr>
            </a:pPr>
            <a:r>
              <a:t>24.8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BD5E1"/>
                </a:solidFill>
              </a:defRPr>
            </a:pPr>
            <a:r>
              <a:t>Proctor Violation Rate</a:t>
            </a:r>
          </a:p>
          <a:p>
            <a:pPr>
              <a:defRPr sz="3200" b="1">
                <a:solidFill>
                  <a:srgbClr val="F59E0B"/>
                </a:solidFill>
              </a:defRPr>
            </a:pPr>
            <a:r>
              <a:t>0.4%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77639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BD5E1"/>
                </a:solidFill>
              </a:defRPr>
            </a:pPr>
            <a:r>
              <a:t>Active Faculty &amp; Creators</a:t>
            </a:r>
          </a:p>
          <a:p>
            <a:pPr>
              <a:defRPr sz="3200" b="1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977639"/>
            <a:ext cx="347472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BD5E1"/>
                </a:solidFill>
              </a:defRPr>
            </a:pPr>
            <a:r>
              <a:t>Candidate Submissions</a:t>
            </a:r>
          </a:p>
          <a:p>
            <a:pPr>
              <a:defRPr sz="3200" b="1">
                <a:solidFill>
                  <a:srgbClr val="0EA5E9"/>
                </a:solidFill>
              </a:defRPr>
            </a:pPr>
            <a:r>
              <a:t>50+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3977639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160519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CBD5E1"/>
                </a:solidFill>
              </a:defRPr>
            </a:pPr>
            <a:r>
              <a:t>System Defect Rate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0.0%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Pareto — from error_logs and violation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Fix the top bars first. That is 80/20 root cause prioritization.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4434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698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</a:defRPr>
            </a:pPr>
            <a:r>
              <a:t>DEFECT / INFRACTION CATEGORY               COUNT      CUMULATIVE %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Window Blur / Tab Switch Infractions     18     68%  ████████████████████████████████████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Invalid / Mis-typed Join Code            7      85%  ██████████████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Unselected Radio Choice on Submit        3      94%  ██████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Browser Network Glitch                   2      98%  ████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Other                                    1      100%  ██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Fishbone — why exam submission errors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F4444"/>
                </a:solidFill>
              </a:defRPr>
            </a:pPr>
            <a:r>
              <a:t>Effect on the right: Examination Error / Submission Delay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People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1691640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828800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Rushed student, exam anxiety, non-technical faculty compiler.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87752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587752"/>
            <a:ext cx="2926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587752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724912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No pre-flight code validation, manual spreadsheet scoring.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83864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83864"/>
            <a:ext cx="2926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21024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Software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483864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621024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Synchronous thread locks, missing Poka-yoke dialogs.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9976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79976"/>
            <a:ext cx="2926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517136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379976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4517136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Malformed question JSON, duplicate join codes, null values.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76088"/>
            <a:ext cx="292608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5276088"/>
            <a:ext cx="29260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13248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Machine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0" y="5276088"/>
            <a:ext cx="7589520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5413248"/>
            <a:ext cx="7223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Slow client browser, OS sleep timer, intermittent Wi-Fi.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FMEA — from automated error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59E0B"/>
                </a:solidFill>
              </a:defRPr>
            </a:pPr>
            <a:r>
              <a:t>RPN = Severity x Occurrence x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698480" cy="4434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91640"/>
            <a:ext cx="106984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</a:defRPr>
            </a:pPr>
            <a:r>
              <a:t>FAILURE MODE               INIT S  O   D   RPN    ACTION (POKA-YOKE)                 REV RPN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Tab switch cheating        8       6   7   336    FocusOut listener + Audio-visual warning 48 (-86%)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Lost answer on crash       9       5   6   270    Local SQLite session caching &amp; auto-save 36 (-86%)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Malformed question entry   7       5   5   175    Poka-yoke validation disabled save until ready 21 (-86%)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Database corruption        10      3   5   150    Automated timestamped snapshots in backups/ 30 (-86%)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</a:defRPr>
            </a:pPr>
            <a:r>
              <a:t>Invalid join code          6       6   4   144    Auto-uppercase normalization &amp; instant pre-flight 16 (-86%)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How logs feed FMEA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1. Candidate triggers bad action (e.g. tab blur) or system catches invalid code.</a:t>
            </a:r>
          </a:p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2. error_logs / audit_logs get a new structured row with timestamp.</a:t>
            </a:r>
          </a:p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3. tqm_report / telemetry module counts each error code.</a:t>
            </a:r>
          </a:p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4. High frequency count = High Occurrence rating (O).</a:t>
            </a:r>
          </a:p>
          <a:p>
            <a:pPr>
              <a:spcBef>
                <a:spcPts val="1600"/>
              </a:spcBef>
              <a:defRPr sz="1700">
                <a:solidFill>
                  <a:srgbClr val="10B981"/>
                </a:solidFill>
              </a:defRPr>
            </a:pPr>
            <a:r>
              <a:t>5. That row feeds directly into the FMEA matrix for risk mitigation.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PDCA on the same problem (Continuous Improvement)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B82F6"/>
                </a:solidFill>
              </a:defRPr>
            </a:pPr>
            <a:r>
              <a:t>PLAN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Problem: Too many candidate window-blur cheating infractions.</a:t>
            </a:r>
            <a:br/>
            <a:r>
              <a:t>Target: Reduce unmonitored infractions to zero with active proctoring.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DO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Action: Bind &lt;FocusOut&gt; event listeners and client tab-switch detector. Display live alert and log violation count.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19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CHECK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Audit: Monitor infraction frequency in class gradebook. Recalculate FMEA RPN from 336 down to 48.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77639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160519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8B5CF6"/>
                </a:solidFill>
              </a:defRPr>
            </a:pPr>
            <a:r>
              <a:t>ACT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Standardize: Make anti-cheat proctoring the mandatory standard across both Web SPA and Desktop GUI.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Build this much first — Review 1 vs Later 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B82F6"/>
                </a:solidFill>
              </a:defRPr>
            </a:pPr>
            <a:r>
              <a:t>REVIEW 1 DELIVERED (FOUNDATION)</a:t>
            </a:r>
          </a:p>
          <a:p>
            <a:pPr>
              <a:spcBef>
                <a:spcPts val="300"/>
              </a:spcBef>
              <a:defRPr b="1" sz="1000">
                <a:solidFill>
                  <a:srgbClr val="FFFFFF"/>
                </a:solidFill>
              </a:defRPr>
            </a:pPr>
            <a:r>
              <a:t>✔ 1. Login + User Roles: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Student, Faculty, Admin RBAC segregation</a:t>
            </a:r>
          </a:p>
          <a:p>
            <a:pPr>
              <a:spcBef>
                <a:spcPts val="300"/>
              </a:spcBef>
              <a:defRPr b="1" sz="1000">
                <a:solidFill>
                  <a:srgbClr val="FFFFFF"/>
                </a:solidFill>
              </a:defRPr>
            </a:pPr>
            <a:r>
              <a:t>✔ 2. Quizzes + Join Code: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Fast code distribution with QZ-XXXX</a:t>
            </a:r>
          </a:p>
          <a:p>
            <a:pPr>
              <a:spcBef>
                <a:spcPts val="300"/>
              </a:spcBef>
              <a:defRPr b="1" sz="1000">
                <a:solidFill>
                  <a:srgbClr val="FFFFFF"/>
                </a:solidFill>
              </a:defRPr>
            </a:pPr>
            <a:r>
              <a:t>✔ 3. Exam with 3 Checks: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Countdown timer + focus tracking + Poka-yoke</a:t>
            </a:r>
          </a:p>
          <a:p>
            <a:pPr>
              <a:spcBef>
                <a:spcPts val="300"/>
              </a:spcBef>
              <a:defRPr b="1" sz="1000">
                <a:solidFill>
                  <a:srgbClr val="FFFFFF"/>
                </a:solidFill>
              </a:defRPr>
            </a:pPr>
            <a:r>
              <a:t>✔ 4. Instant Auto-Grading: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Sub-250ms deterministic scoring pipeline</a:t>
            </a:r>
          </a:p>
          <a:p>
            <a:pPr>
              <a:spcBef>
                <a:spcPts val="300"/>
              </a:spcBef>
              <a:defRPr b="1" sz="1000">
                <a:solidFill>
                  <a:srgbClr val="FFFFFF"/>
                </a:solidFill>
              </a:defRPr>
            </a:pPr>
            <a:r>
              <a:t>✔ 5. Audit + Error Log: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Persistent SQLite telemetry tracking</a:t>
            </a:r>
          </a:p>
          <a:p>
            <a:pPr>
              <a:spcBef>
                <a:spcPts val="300"/>
              </a:spcBef>
              <a:defRPr b="1" sz="1000">
                <a:solidFill>
                  <a:srgbClr val="FFFFFF"/>
                </a:solidFill>
              </a:defRPr>
            </a:pPr>
            <a:r>
              <a:t>✔ 6. Working Web &amp; Desktop: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Full functional parity verified with 22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8B5CF6"/>
                </a:solidFill>
              </a:defRPr>
            </a:pPr>
            <a:r>
              <a:t>LATER REVIEWS (FULL TQM INTEGRATION)</a:t>
            </a:r>
          </a:p>
          <a:p>
            <a:pPr>
              <a:spcBef>
                <a:spcPts val="400"/>
              </a:spcBef>
              <a:defRPr b="1" sz="1000">
                <a:solidFill>
                  <a:srgbClr val="8B5CF6"/>
                </a:solidFill>
              </a:defRPr>
            </a:pPr>
            <a:r>
              <a:t>➡ Full FMEA Scoring Marks: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Live recalculation of RPN after proctor mitigations</a:t>
            </a:r>
          </a:p>
          <a:p>
            <a:pPr>
              <a:spcBef>
                <a:spcPts val="400"/>
              </a:spcBef>
              <a:defRPr b="1" sz="1000">
                <a:solidFill>
                  <a:srgbClr val="8B5CF6"/>
                </a:solidFill>
              </a:defRPr>
            </a:pPr>
            <a:r>
              <a:t>➡ Statistical Pareto Analysis: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Automated chart generation from live error logs</a:t>
            </a:r>
          </a:p>
          <a:p>
            <a:pPr>
              <a:spcBef>
                <a:spcPts val="400"/>
              </a:spcBef>
              <a:defRPr b="1" sz="1000">
                <a:solidFill>
                  <a:srgbClr val="8B5CF6"/>
                </a:solidFill>
              </a:defRPr>
            </a:pPr>
            <a:r>
              <a:t>➡ Complete Ishikawa Fishbone: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Systematic root-cause remediation</a:t>
            </a:r>
          </a:p>
          <a:p>
            <a:pPr>
              <a:spcBef>
                <a:spcPts val="400"/>
              </a:spcBef>
              <a:defRPr b="1" sz="1000">
                <a:solidFill>
                  <a:srgbClr val="8B5CF6"/>
                </a:solidFill>
              </a:defRPr>
            </a:pPr>
            <a:r>
              <a:t>➡ PDCA Continuous Loop: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Quarterly syllabus quality improvements</a:t>
            </a:r>
          </a:p>
          <a:p>
            <a:pPr>
              <a:spcBef>
                <a:spcPts val="400"/>
              </a:spcBef>
              <a:defRPr b="1" sz="1000">
                <a:solidFill>
                  <a:srgbClr val="8B5CF6"/>
                </a:solidFill>
              </a:defRPr>
            </a:pPr>
            <a:r>
              <a:t>➡ Biometric Proctoring: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Periodic webcam identity verification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Working Application Demo Guide — Setup &amp;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3B82F6"/>
                </a:solidFill>
              </a:defRPr>
            </a:pPr>
            <a:r>
              <a:t>EXECUTION &amp; TEST COMMANDS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▶ 1. Launch Web Server: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server.py</a:t>
            </a:r>
            <a:br/>
            <a:r>
              <a:t>Starts FastAPI at http://localhost:8000 with lifespan initialization.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▶ 2. Launch Desktop GUI: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desktop_app.py</a:t>
            </a:r>
            <a:br/>
            <a:r>
              <a:t>Native Windows CustomTkinter app with strict 44px grid table alignment.</a:t>
            </a:r>
          </a:p>
          <a:p>
            <a:pPr>
              <a:spcBef>
                <a:spcPts val="600"/>
              </a:spcBef>
              <a:defRPr b="1" sz="1050">
                <a:solidFill>
                  <a:srgbClr val="FFFFFF"/>
                </a:solidFill>
              </a:defRPr>
            </a:pPr>
            <a:r>
              <a:t>▶ 3. Run Verification Tests:</a:t>
            </a:r>
          </a:p>
          <a:p>
            <a:pPr>
              <a:defRPr sz="950">
                <a:solidFill>
                  <a:srgbClr val="CBD5E1"/>
                </a:solidFill>
              </a:defRPr>
            </a:pPr>
            <a:r>
              <a:t>   python -m pytest tests/ -v</a:t>
            </a:r>
            <a:br/>
            <a:r>
              <a:t>Runs all 22 automated tests with zero deprecation warnings.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READY-TO-USE TEST ACCOUNTS</a:t>
            </a:r>
          </a:p>
          <a:p>
            <a:pPr>
              <a:spcBef>
                <a:spcPts val="600"/>
              </a:spcBef>
              <a:defRPr b="1" sz="1050">
                <a:solidFill>
                  <a:srgbClr val="F59E0B"/>
                </a:solidFill>
              </a:defRPr>
            </a:pPr>
            <a:r>
              <a:t>👤 STUDENT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student  |  Password: student123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Candidate Arena: Join 'QZ-1001', test anti-cheat, instant scorecard.</a:t>
            </a:r>
          </a:p>
          <a:p>
            <a:pPr>
              <a:spcBef>
                <a:spcPts val="600"/>
              </a:spcBef>
              <a:defRPr b="1" sz="1050">
                <a:solidFill>
                  <a:srgbClr val="F59E0B"/>
                </a:solidFill>
              </a:defRPr>
            </a:pPr>
            <a:r>
              <a:t>👤 FACULTY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faculty  |  Password: faculty123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Examiner Studio: Manual &amp; AI quiz generator, class gradebook.</a:t>
            </a:r>
          </a:p>
          <a:p>
            <a:pPr>
              <a:spcBef>
                <a:spcPts val="600"/>
              </a:spcBef>
              <a:defRPr b="1" sz="1050">
                <a:solidFill>
                  <a:srgbClr val="F59E0B"/>
                </a:solidFill>
              </a:defRPr>
            </a:pPr>
            <a:r>
              <a:t>👤 ADMIN ROLE: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   Username: admin  |  Password: admin123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   Purpose: Platform Admin: Global telemetry KPIs, candidate history modal, CSV exports.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Live demonstration walkthroughs (Student, Faculty, 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B82F6"/>
                </a:solidFill>
              </a:defRPr>
            </a:pPr>
            <a:r>
              <a:t>STUDENT EXAM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student / student123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Navigation restricts to Candidate Arena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Enter active Join Code 'QZ-1001'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Take test while countdown runs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Switch tabs to trigger Anti-Cheat alert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6. Submit: Scorecard delivered in ~25ms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FACULTY STUDIO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faculty / faculty123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Navigation displays Examiner Studio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Use AI Wizard: Topic 'Data Structures'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Publish test with Join Code (e.g. QZ-3942)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Open Class Gradebook to inspect submissions and cheat violation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7472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747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8B5CF6"/>
                </a:solidFill>
              </a:defRPr>
            </a:pPr>
            <a:r>
              <a:t>ADMIN TELEMETRY FLOW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1. Sign in as admin / admin123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2. Open Platform Admin Console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3. Review telemetry KPIs &amp; pass rate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4. Filter roster table by role or name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5. Open candidate historical modal</a:t>
            </a:r>
          </a:p>
          <a:p>
            <a:pPr>
              <a:spcBef>
                <a:spcPts val="500"/>
              </a:spcBef>
              <a:defRPr sz="950">
                <a:solidFill>
                  <a:srgbClr val="FFFFFF"/>
                </a:solidFill>
              </a:defRPr>
            </a:pPr>
            <a:r>
              <a:t>6. One-click CSV export streams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SRS REVIEW 1 &amp; 2 · PROCESS +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One sentence for viva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657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4A3B8"/>
                </a:solidFill>
              </a:defRPr>
            </a:pPr>
            <a: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 b="1">
                <a:solidFill>
                  <a:srgbClr val="EF4444"/>
                </a:solidFill>
              </a:defRPr>
            </a:pPr>
            <a:r>
              <a:t>The UI never writes SQL.</a:t>
            </a:r>
          </a:p>
          <a:p>
            <a:pPr>
              <a:spcBef>
                <a:spcPts val="1200"/>
              </a:spcBef>
              <a:defRPr sz="2200" b="1">
                <a:solidFill>
                  <a:srgbClr val="3B82F6"/>
                </a:solidFill>
              </a:defRPr>
            </a:pPr>
            <a:r>
              <a:t>Validation stops bad data at the source.</a:t>
            </a:r>
          </a:p>
          <a:p>
            <a:pPr>
              <a:spcBef>
                <a:spcPts val="1200"/>
              </a:spcBef>
              <a:defRPr sz="2200" b="1">
                <a:solidFill>
                  <a:srgbClr val="F59E0B"/>
                </a:solidFill>
              </a:defRPr>
            </a:pPr>
            <a:r>
              <a:t>Audit records who submitted what and when.</a:t>
            </a:r>
          </a:p>
          <a:p>
            <a:pPr>
              <a:spcBef>
                <a:spcPts val="1200"/>
              </a:spcBef>
              <a:defRPr sz="2200" b="1">
                <a:solidFill>
                  <a:srgbClr val="0EA5E9"/>
                </a:solidFill>
              </a:defRPr>
            </a:pPr>
            <a:r>
              <a:t>Cheating is tracked and timeouts cannot corrupt grades.</a:t>
            </a:r>
          </a:p>
          <a:p>
            <a:pPr>
              <a:spcBef>
                <a:spcPts val="1200"/>
              </a:spcBef>
              <a:defRPr sz="2200" b="1">
                <a:solidFill>
                  <a:srgbClr val="10B981"/>
                </a:solidFill>
              </a:defRPr>
            </a:pPr>
            <a:r>
              <a:t>Logs become Pareto, Fishbone, FMEA, and PDCA.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