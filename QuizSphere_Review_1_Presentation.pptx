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011680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ACADEMIC REVIEW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Online Quiz System (QuizSphere Pro)</a:t>
            </a:r>
          </a:p>
          <a:p>
            <a:pPr>
              <a:spcBef>
                <a:spcPts val="800"/>
              </a:spcBef>
              <a:defRPr sz="2000">
                <a:solidFill>
                  <a:srgbClr val="3B82F6"/>
                </a:solidFill>
              </a:defRPr>
            </a:pPr>
            <a:r>
              <a:t>Setup &amp; Software Requirements Specification (SRS) with Working Demo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474720"/>
            <a:ext cx="256032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3474720"/>
            <a:ext cx="25603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6576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3B82F6"/>
                </a:solidFill>
              </a:defRPr>
            </a:pPr>
            <a:r>
              <a:t>COURSE &amp; BASELINE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BBAT104: Fundamentals of TQM</a:t>
            </a:r>
            <a:br/>
            <a:r>
              <a:t>Baseline System 9: Online Quiz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3474720"/>
            <a:ext cx="256032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9000" y="3474720"/>
            <a:ext cx="25603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36576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0B981"/>
                </a:solidFill>
              </a:defRPr>
            </a:pPr>
            <a:r>
              <a:t>ASSIGNED QUALITY GOAL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Q20: Overall Software Quality</a:t>
            </a:r>
            <a:br/>
            <a:r>
              <a:t>Dashboards, Validation, Export &amp; Backups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474720"/>
            <a:ext cx="256032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3474720"/>
            <a:ext cx="256032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36576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ENGINEERING TARGET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Zero-Latency Submissions (&lt;250ms)</a:t>
            </a:r>
            <a:br/>
            <a:r>
              <a:t>100% Deterministic Auto-Grading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3474720"/>
            <a:ext cx="256032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23960" y="3474720"/>
            <a:ext cx="256032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36576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8B5CF6"/>
                </a:solidFill>
              </a:defRPr>
            </a:pPr>
            <a:r>
              <a:t>DUAL PLATFORM DEPLOYMENT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FastAPI Unified Web Backend + SPA</a:t>
            </a:r>
            <a:br/>
            <a:r>
              <a:t>Native CustomTkinter Desktop Client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REVIEW 1 — SETUP &amp; SRS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Problem Statement &amp; Baseline Understanding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EF4444"/>
                </a:solidFill>
              </a:defRPr>
            </a:pPr>
            <a:r>
              <a:t>CRITICAL LIMITATIONS IN EXISTING SYSTEMS</a:t>
            </a:r>
          </a:p>
          <a:p>
            <a:pPr>
              <a:spcBef>
                <a:spcPts val="600"/>
              </a:spcBef>
              <a:defRPr b="1" sz="1100">
                <a:solidFill>
                  <a:srgbClr val="FFFFFF"/>
                </a:solidFill>
              </a:defRPr>
            </a:pPr>
            <a:r>
              <a:t>• Network Lag &amp; Submission Hangs: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  High-concurrency test submissions freeze or time out, resulting in unrecorded candidate answers and data loss.</a:t>
            </a:r>
          </a:p>
          <a:p>
            <a:pPr>
              <a:spcBef>
                <a:spcPts val="600"/>
              </a:spcBef>
              <a:defRPr b="1" sz="1100">
                <a:solidFill>
                  <a:srgbClr val="FFFFFF"/>
                </a:solidFill>
              </a:defRPr>
            </a:pPr>
            <a:r>
              <a:t>• Academic Integrity Vulnerabilities: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  Standard online forms lack real-time window focus detection, allowing rampant tab-switching and external lookup.</a:t>
            </a:r>
          </a:p>
          <a:p>
            <a:pPr>
              <a:spcBef>
                <a:spcPts val="600"/>
              </a:spcBef>
              <a:defRPr b="1" sz="1100">
                <a:solidFill>
                  <a:srgbClr val="FFFFFF"/>
                </a:solidFill>
              </a:defRPr>
            </a:pPr>
            <a:r>
              <a:t>• Teacher Manual Burden: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  Educators spend hours formulating questions, creating multiple choice formats, calculating scores, and tabulating spreadsheets.</a:t>
            </a:r>
          </a:p>
          <a:p>
            <a:pPr>
              <a:spcBef>
                <a:spcPts val="600"/>
              </a:spcBef>
              <a:defRPr b="1" sz="1100">
                <a:solidFill>
                  <a:srgbClr val="FFFFFF"/>
                </a:solidFill>
              </a:defRPr>
            </a:pPr>
            <a:r>
              <a:t>• Single Point of Failure: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  Lack of automated snapshot backups and offline desktop failover exposes institutions to fatal exam downtime.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10B981"/>
                </a:solidFill>
              </a:defRPr>
            </a:pPr>
            <a:r>
              <a:t>QUIZSPHERE PRO ARCHITECTURAL SOLUTION</a:t>
            </a:r>
          </a:p>
          <a:p>
            <a:pPr>
              <a:spcBef>
                <a:spcPts val="600"/>
              </a:spcBef>
              <a:defRPr b="1" sz="1100">
                <a:solidFill>
                  <a:srgbClr val="10B981"/>
                </a:solidFill>
              </a:defRPr>
            </a:pPr>
            <a:r>
              <a:t>✔ Sub-250ms Instant Evaluation: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  In-memory deterministic scoring pipeline processes answers and yields full scorecards in 15-35 milliseconds.</a:t>
            </a:r>
          </a:p>
          <a:p>
            <a:pPr>
              <a:spcBef>
                <a:spcPts val="600"/>
              </a:spcBef>
              <a:defRPr b="1" sz="1100">
                <a:solidFill>
                  <a:srgbClr val="10B981"/>
                </a:solidFill>
              </a:defRPr>
            </a:pPr>
            <a:r>
              <a:t>✔ Anti-Cheat Proctoring Hub: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  Continuous window focus loss and tab-switch telemetry increments violation counters and logs timestamps in real time.</a:t>
            </a:r>
          </a:p>
          <a:p>
            <a:pPr>
              <a:spcBef>
                <a:spcPts val="600"/>
              </a:spcBef>
              <a:defRPr b="1" sz="1100">
                <a:solidFill>
                  <a:srgbClr val="10B981"/>
                </a:solidFill>
              </a:defRPr>
            </a:pPr>
            <a:r>
              <a:t>✔ AI Curriculum Question Synthesis: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  Faculty input syllabus keywords to automatically generate 5-20 verified MCQs with rationale keys in seconds.</a:t>
            </a:r>
          </a:p>
          <a:p>
            <a:pPr>
              <a:spcBef>
                <a:spcPts val="600"/>
              </a:spcBef>
              <a:defRPr b="1" sz="1100">
                <a:solidFill>
                  <a:srgbClr val="10B981"/>
                </a:solidFill>
              </a:defRPr>
            </a:pPr>
            <a:r>
              <a:t>✔ Dual Platform Deployment: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  Simultaneous access via responsive Web browser SPA (FastAPI) and native standalone Windows Desktop App (CustomTkinter).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REVIEW 1 — SETUP &amp; SRS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Quality Objectives &amp; TQM Critical-to-Quality (CTQ)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5603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3B82F6"/>
                </a:solidFill>
              </a:defRPr>
            </a:pPr>
            <a:r>
              <a:t>SUBMISSION LATENCY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&lt; 250 ms</a:t>
            </a:r>
          </a:p>
          <a:p>
            <a:pPr>
              <a:spcAft>
                <a:spcPts val="1200"/>
              </a:spcAft>
              <a:defRPr sz="1100" b="1">
                <a:solidFill>
                  <a:srgbClr val="3B82F6"/>
                </a:solidFill>
              </a:defRPr>
            </a:pPr>
            <a:r>
              <a:t>Achieved: ~25 ms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Turnaround time from student submission to verified database scorecard.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645920"/>
            <a:ext cx="256032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9000" y="1645920"/>
            <a:ext cx="25603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82880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0B981"/>
                </a:solidFill>
              </a:defRPr>
            </a:pPr>
            <a:r>
              <a:t>GRADING ACCURACY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100.0%</a:t>
            </a:r>
          </a:p>
          <a:p>
            <a:pPr>
              <a:spcAft>
                <a:spcPts val="1200"/>
              </a:spcAft>
              <a:defRPr sz="1100" b="1">
                <a:solidFill>
                  <a:srgbClr val="10B981"/>
                </a:solidFill>
              </a:defRPr>
            </a:pPr>
            <a:r>
              <a:t>Zero Defect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Scoring consistency between expected cryptographic key and calculated result.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645920"/>
            <a:ext cx="256032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645920"/>
            <a:ext cx="256032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82880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F59E0B"/>
                </a:solidFill>
              </a:defRPr>
            </a:pPr>
            <a:r>
              <a:t>ANTI-CHEAT COVERAGE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100%</a:t>
            </a:r>
          </a:p>
          <a:p>
            <a:pPr>
              <a:spcAft>
                <a:spcPts val="1200"/>
              </a:spcAft>
              <a:defRPr sz="1100" b="1">
                <a:solidFill>
                  <a:srgbClr val="F59E0B"/>
                </a:solidFill>
              </a:defRPr>
            </a:pPr>
            <a:r>
              <a:t>Full Telemetry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Focus blur events and unauthorized window switches logged with infraction counts.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645920"/>
            <a:ext cx="256032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23960" y="1645920"/>
            <a:ext cx="256032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182880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8B5CF6"/>
                </a:solidFill>
              </a:defRPr>
            </a:pPr>
            <a:r>
              <a:t>DATA RECOVERY (RPO)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Hourly Snapshots</a:t>
            </a:r>
          </a:p>
          <a:p>
            <a:pPr>
              <a:spcAft>
                <a:spcPts val="1200"/>
              </a:spcAft>
              <a:defRPr sz="1100" b="1">
                <a:solidFill>
                  <a:srgbClr val="8B5CF6"/>
                </a:solidFill>
              </a:defRPr>
            </a:pPr>
            <a:r>
              <a:t>Automated Backups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Timestamped SQLite snapshots saved to backups/ with one-click restore.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REVIEW 1 — SETUP &amp; SRS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Scope &amp; Role-Based Access Control (RBAC)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4747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STUDENT / CANDIDATE</a:t>
            </a:r>
          </a:p>
          <a:p>
            <a:pPr>
              <a:spcAft>
                <a:spcPts val="1200"/>
              </a:spcAft>
              <a:defRPr sz="1100" b="1">
                <a:solidFill>
                  <a:srgbClr val="FFFFFF"/>
                </a:solidFill>
              </a:defRPr>
            </a:pPr>
            <a:r>
              <a:t>Portal: Candidate Arena</a:t>
            </a:r>
          </a:p>
          <a:p>
            <a:pPr>
              <a:spcBef>
                <a:spcPts val="400"/>
              </a:spcBef>
              <a:defRPr sz="1000">
                <a:solidFill>
                  <a:srgbClr val="CBD5E1"/>
                </a:solidFill>
              </a:defRPr>
            </a:pPr>
            <a:r>
              <a:t>• Join assessments using 6-character Join Code (e.g. QZ-1001)</a:t>
            </a:r>
          </a:p>
          <a:p>
            <a:pPr>
              <a:spcBef>
                <a:spcPts val="400"/>
              </a:spcBef>
              <a:defRPr sz="1000">
                <a:solidFill>
                  <a:srgbClr val="CBD5E1"/>
                </a:solidFill>
              </a:defRPr>
            </a:pPr>
            <a:r>
              <a:t>• Authoritative countdown timer with zero client drift</a:t>
            </a:r>
          </a:p>
          <a:p>
            <a:pPr>
              <a:spcBef>
                <a:spcPts val="400"/>
              </a:spcBef>
              <a:defRPr sz="1000">
                <a:solidFill>
                  <a:srgbClr val="CBD5E1"/>
                </a:solidFill>
              </a:defRPr>
            </a:pPr>
            <a:r>
              <a:t>• Active Anti-Cheat window focus &amp; blur detection</a:t>
            </a:r>
          </a:p>
          <a:p>
            <a:pPr>
              <a:spcBef>
                <a:spcPts val="400"/>
              </a:spcBef>
              <a:defRPr sz="1000">
                <a:solidFill>
                  <a:srgbClr val="CBD5E1"/>
                </a:solidFill>
              </a:defRPr>
            </a:pPr>
            <a:r>
              <a:t>• Instant scorecards with question-by-question explanations</a:t>
            </a:r>
          </a:p>
          <a:p>
            <a:pPr>
              <a:spcBef>
                <a:spcPts val="400"/>
              </a:spcBef>
              <a:defRPr sz="1000">
                <a:solidFill>
                  <a:srgbClr val="CBD5E1"/>
                </a:solidFill>
              </a:defRPr>
            </a:pPr>
            <a:r>
              <a:t>• Restricted view: Examiner Studio &amp; Admin Panel hidden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7472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645920"/>
            <a:ext cx="34747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8288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FACULTY / EXAMINER</a:t>
            </a:r>
          </a:p>
          <a:p>
            <a:pPr>
              <a:spcAft>
                <a:spcPts val="1200"/>
              </a:spcAft>
              <a:defRPr sz="1100" b="1">
                <a:solidFill>
                  <a:srgbClr val="FFFFFF"/>
                </a:solidFill>
              </a:defRPr>
            </a:pPr>
            <a:r>
              <a:t>Portal: Examiner Studio</a:t>
            </a:r>
          </a:p>
          <a:p>
            <a:pPr>
              <a:spcBef>
                <a:spcPts val="400"/>
              </a:spcBef>
              <a:defRPr sz="1000">
                <a:solidFill>
                  <a:srgbClr val="CBD5E1"/>
                </a:solidFill>
              </a:defRPr>
            </a:pPr>
            <a:r>
              <a:t>• Manual quiz authoring with custom time limits &amp; passing marks</a:t>
            </a:r>
          </a:p>
          <a:p>
            <a:pPr>
              <a:spcBef>
                <a:spcPts val="400"/>
              </a:spcBef>
              <a:defRPr sz="1000">
                <a:solidFill>
                  <a:srgbClr val="CBD5E1"/>
                </a:solidFill>
              </a:defRPr>
            </a:pPr>
            <a:r>
              <a:t>• AI-assisted curriculum generation based on topic &amp; difficulty</a:t>
            </a:r>
          </a:p>
          <a:p>
            <a:pPr>
              <a:spcBef>
                <a:spcPts val="400"/>
              </a:spcBef>
              <a:defRPr sz="1000">
                <a:solidFill>
                  <a:srgbClr val="CBD5E1"/>
                </a:solidFill>
              </a:defRPr>
            </a:pPr>
            <a:r>
              <a:t>• Instant Join Code generation for fast student distribution</a:t>
            </a:r>
          </a:p>
          <a:p>
            <a:pPr>
              <a:spcBef>
                <a:spcPts val="400"/>
              </a:spcBef>
              <a:defRPr sz="1000">
                <a:solidFill>
                  <a:srgbClr val="CBD5E1"/>
                </a:solidFill>
              </a:defRPr>
            </a:pPr>
            <a:r>
              <a:t>• Live Class Gradebook with candidate scores &amp; cheat violation counts</a:t>
            </a:r>
          </a:p>
          <a:p>
            <a:pPr>
              <a:spcBef>
                <a:spcPts val="400"/>
              </a:spcBef>
              <a:defRPr sz="1000">
                <a:solidFill>
                  <a:srgbClr val="CBD5E1"/>
                </a:solidFill>
              </a:defRPr>
            </a:pPr>
            <a:r>
              <a:t>• Restricted view: Admin governance panel hidden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645920"/>
            <a:ext cx="347472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80" y="1645920"/>
            <a:ext cx="347472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8288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B5CF6"/>
                </a:solidFill>
              </a:defRPr>
            </a:pPr>
            <a:r>
              <a:t>ADMINISTRATOR</a:t>
            </a:r>
          </a:p>
          <a:p>
            <a:pPr>
              <a:spcAft>
                <a:spcPts val="1200"/>
              </a:spcAft>
              <a:defRPr sz="1100" b="1">
                <a:solidFill>
                  <a:srgbClr val="FFFFFF"/>
                </a:solidFill>
              </a:defRPr>
            </a:pPr>
            <a:r>
              <a:t>Portal: Platform Admin Console</a:t>
            </a:r>
          </a:p>
          <a:p>
            <a:pPr>
              <a:spcBef>
                <a:spcPts val="400"/>
              </a:spcBef>
              <a:defRPr sz="1000">
                <a:solidFill>
                  <a:srgbClr val="CBD5E1"/>
                </a:solidFill>
              </a:defRPr>
            </a:pPr>
            <a:r>
              <a:t>• Platform telemetry (total users, active faculty, attempt counts)</a:t>
            </a:r>
          </a:p>
          <a:p>
            <a:pPr>
              <a:spcBef>
                <a:spcPts val="400"/>
              </a:spcBef>
              <a:defRPr sz="1000">
                <a:solidFill>
                  <a:srgbClr val="CBD5E1"/>
                </a:solidFill>
              </a:defRPr>
            </a:pPr>
            <a:r>
              <a:t>• User governance roster with search &amp; role filters</a:t>
            </a:r>
          </a:p>
          <a:p>
            <a:pPr>
              <a:spcBef>
                <a:spcPts val="400"/>
              </a:spcBef>
              <a:defRPr sz="1000">
                <a:solidFill>
                  <a:srgbClr val="CBD5E1"/>
                </a:solidFill>
              </a:defRPr>
            </a:pPr>
            <a:r>
              <a:t>• Candidate Performance Scorecard drill-down modal</a:t>
            </a:r>
          </a:p>
          <a:p>
            <a:pPr>
              <a:spcBef>
                <a:spcPts val="400"/>
              </a:spcBef>
              <a:defRPr sz="1000">
                <a:solidFill>
                  <a:srgbClr val="CBD5E1"/>
                </a:solidFill>
              </a:defRPr>
            </a:pPr>
            <a:r>
              <a:t>• Instant CSV exports for rosters and complete audit logs</a:t>
            </a:r>
          </a:p>
          <a:p>
            <a:pPr>
              <a:spcBef>
                <a:spcPts val="400"/>
              </a:spcBef>
              <a:defRPr sz="1000">
                <a:solidFill>
                  <a:srgbClr val="CBD5E1"/>
                </a:solidFill>
              </a:defRPr>
            </a:pPr>
            <a:r>
              <a:t>• Database integrity monitoring and backup snapshot triggers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REVIEW 1 — SETUP &amp; SRS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Software Requirements Specification (SRS) — Architecture &amp;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4747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3B82F6"/>
                </a:solidFill>
              </a:defRPr>
            </a:pPr>
            <a:r>
              <a:t>IEEE 830 STANDARD STRUCTURE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</a:defRPr>
            </a:pPr>
            <a:r>
              <a:t>• Formal specification covering Functional &amp; Non-Functional criteria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</a:defRPr>
            </a:pPr>
            <a:r>
              <a:t>• Document: docs/SRS_Document.md (Version 1.0.0)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</a:defRPr>
            </a:pPr>
            <a:r>
              <a:t>• Multi-tenant data isolation and audit trails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</a:defRPr>
            </a:pPr>
            <a:r>
              <a:t>• Integration with TQM Q20 (Overall Software Quality mandate)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7472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645920"/>
            <a:ext cx="34747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8288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0B981"/>
                </a:solidFill>
              </a:defRPr>
            </a:pPr>
            <a:r>
              <a:t>SYSTEM BOUNDARIES &amp; ACTORS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</a:defRPr>
            </a:pPr>
            <a:r>
              <a:t>• Primary Actors: Students (Examinees), Faculty (Examiners), Admins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</a:defRPr>
            </a:pPr>
            <a:r>
              <a:t>• Client Channels: Web Browser (HTML5/CSS3) &amp; Windows Desktop GUI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</a:defRPr>
            </a:pPr>
            <a:r>
              <a:t>• Communication: High-throughput JSON REST APIs + WebSockets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</a:defRPr>
            </a:pPr>
            <a:r>
              <a:t>• Storage Engine: Transactional ACID-compliant SQLite instance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645920"/>
            <a:ext cx="347472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80" y="1645920"/>
            <a:ext cx="347472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8288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F59E0B"/>
                </a:solidFill>
              </a:defRPr>
            </a:pPr>
            <a:r>
              <a:t>POKA-YOKE MISTAKE PROOFING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</a:defRPr>
            </a:pPr>
            <a:r>
              <a:t>• Validation Layer: Eliminates malformed question inputs and bad boundaries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</a:defRPr>
            </a:pPr>
            <a:r>
              <a:t>• Schema Guards: Pydantic v2 strict models for all request bodies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</a:defRPr>
            </a:pPr>
            <a:r>
              <a:t>• Join Code Integrity: Unique constraint locks preventing collisions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</a:defRPr>
            </a:pPr>
            <a:r>
              <a:t>• Deterministic State: In-memory evaluation removing race conditions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REVIEW 1 — SETUP &amp; SRS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SRS: Functional Requirements Matrix (FR-1 to FR-5)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4747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3B82F6"/>
                </a:solidFill>
              </a:defRPr>
            </a:pPr>
            <a:r>
              <a:t>FR-1: Multi-Role Dashboards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Segregated workspaces for Student, Faculty, and Admin with dynamic navigation visibility based on authenticated role.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7472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645920"/>
            <a:ext cx="34747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78308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0B981"/>
                </a:solidFill>
              </a:defRPr>
            </a:pPr>
            <a:r>
              <a:t>FR-2: Poka-Yoke Input Validation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Strict bounds checking on quiz limits (1-180m, 1-100%), non-empty options, and unique constraint enforcement on Join Codes.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645920"/>
            <a:ext cx="347472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80" y="1645920"/>
            <a:ext cx="347472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78308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59E0B"/>
                </a:solidFill>
              </a:defRPr>
            </a:pPr>
            <a:r>
              <a:t>FR-3: AI Question Synthesis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Automated MCQ synthesis based on syllabus topic and difficulty (Beginner, Medium, Advanced) with deterministic answer keys.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77639"/>
            <a:ext cx="347472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977639"/>
            <a:ext cx="347472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14799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8B5CF6"/>
                </a:solidFill>
              </a:defRPr>
            </a:pPr>
            <a:r>
              <a:t>FR-4: Automated Gradebook &amp; Export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Instant candidate scorecard delivery with per-question review and one-click streaming CSV exports for rosters and attempts.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977639"/>
            <a:ext cx="347472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3977639"/>
            <a:ext cx="347472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4114799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EA5E9"/>
                </a:solidFill>
              </a:defRPr>
            </a:pPr>
            <a:r>
              <a:t>FR-5: Automated Database Backups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Dedicated backup utility creating timestamped SQLite snapshots in backups/ directory with on-demand snapshot triggers.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REVIEW 1 — SETUP &amp; SRS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SRS: Non-Functional Requirements &amp; Security Safeguards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21208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B82F6"/>
                </a:solidFill>
              </a:defRPr>
            </a:pPr>
            <a:r>
              <a:t>SUB-250MS DETERMINISTIC SPEED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▪ In-memory evaluation pipeline yields immediate grading without blocking I/O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▪ Benchmark: 15 to 35 milliseconds turnaround per 50-question test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▪ Zero client-side grading drift or race condition vulnerabilities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45920"/>
            <a:ext cx="521208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64592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7830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</a:defRPr>
            </a:pPr>
            <a:r>
              <a:t>ACID TRANSACTION GUARANTEE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▪ Atomic SQLite write transactions protect test records from corrupt state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▪ Automatic database migrations on boot via FastAPI lifespan handlers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▪ Zero startup deprecation warnings across all endpoints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77639"/>
            <a:ext cx="521208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977639"/>
            <a:ext cx="521208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114799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EF4444"/>
                </a:solidFill>
              </a:defRPr>
            </a:pPr>
            <a:r>
              <a:t>ACTIVE PROCTORING &amp; INTEGRITY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▪ Window blur &amp; tab switch listeners capture unauthorized browser browsing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▪ Infraction tally permanently attached to candidate attempt record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▪ Authoritative server-side countdown timer preventing client manipulation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977639"/>
            <a:ext cx="521208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3977639"/>
            <a:ext cx="521208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4114799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8B5CF6"/>
                </a:solidFill>
              </a:defRPr>
            </a:pPr>
            <a:r>
              <a:t>THEMING &amp; ACCESSIBILITY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▪ Warm Cream Modern Theme + High-Contrast Dark Mode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▪ Dynamic font scaling controls (A+/A-) for laboratory accessibility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▪ Focus Mode minimizing visual clutter during high-stakes assessments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REVIEW 1 — SETUP &amp; SRS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Modular Folder Architecture &amp; 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21208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BACKEND CORE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</a:defRPr>
            </a:pPr>
            <a:r>
              <a:t>Stack: FastAPI + Uvicorn + SQLite</a:t>
            </a:r>
          </a:p>
          <a:p>
            <a:pPr>
              <a:spcBef>
                <a:spcPts val="100"/>
              </a:spcBef>
              <a:defRPr sz="900">
                <a:solidFill>
                  <a:srgbClr val="CBD5E1"/>
                </a:solidFill>
              </a:defRPr>
            </a:pPr>
            <a:r>
              <a:t>▪ server.py: Unified REST API and WebSocket connection manager</a:t>
            </a:r>
          </a:p>
          <a:p>
            <a:pPr>
              <a:spcBef>
                <a:spcPts val="100"/>
              </a:spcBef>
              <a:defRPr sz="900">
                <a:solidFill>
                  <a:srgbClr val="CBD5E1"/>
                </a:solidFill>
              </a:defRPr>
            </a:pPr>
            <a:r>
              <a:t>▪ backend/api/v1/: Enterprise modular routers (auth, quizzes, attempts, admin)</a:t>
            </a:r>
          </a:p>
          <a:p>
            <a:pPr>
              <a:spcBef>
                <a:spcPts val="100"/>
              </a:spcBef>
              <a:defRPr sz="900">
                <a:solidFill>
                  <a:srgbClr val="CBD5E1"/>
                </a:solidFill>
              </a:defRPr>
            </a:pPr>
            <a:r>
              <a:t>▪ backend/core/: Database session factory, security JWT, telemetry middleware</a:t>
            </a:r>
          </a:p>
          <a:p>
            <a:pPr>
              <a:spcBef>
                <a:spcPts val="100"/>
              </a:spcBef>
              <a:defRPr sz="900">
                <a:solidFill>
                  <a:srgbClr val="CBD5E1"/>
                </a:solidFill>
              </a:defRPr>
            </a:pPr>
            <a:r>
              <a:t>▪ backend/models/: Declarative multi-tenant SQLAlchemy domain models</a:t>
            </a:r>
          </a:p>
          <a:p>
            <a:pPr>
              <a:spcBef>
                <a:spcPts val="100"/>
              </a:spcBef>
              <a:defRPr sz="900">
                <a:solidFill>
                  <a:srgbClr val="CBD5E1"/>
                </a:solidFill>
              </a:defRPr>
            </a:pPr>
            <a:r>
              <a:t>▪ ai_quiz_generator.py: Curriculum MCQ generation engine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45920"/>
            <a:ext cx="521208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64592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7830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DESKTOP APPLICATION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</a:defRPr>
            </a:pPr>
            <a:r>
              <a:t>Stack: CustomTkinter GUI Engine</a:t>
            </a:r>
          </a:p>
          <a:p>
            <a:pPr>
              <a:spcBef>
                <a:spcPts val="100"/>
              </a:spcBef>
              <a:defRPr sz="900">
                <a:solidFill>
                  <a:srgbClr val="CBD5E1"/>
                </a:solidFill>
              </a:defRPr>
            </a:pPr>
            <a:r>
              <a:t>▪ desktop_app.py: Standalone native Windows client</a:t>
            </a:r>
          </a:p>
          <a:p>
            <a:pPr>
              <a:spcBef>
                <a:spcPts val="100"/>
              </a:spcBef>
              <a:defRPr sz="900">
                <a:solidFill>
                  <a:srgbClr val="CBD5E1"/>
                </a:solidFill>
              </a:defRPr>
            </a:pPr>
            <a:r>
              <a:t>▪ DatabaseManager: Direct transactional SQLite integration</a:t>
            </a:r>
          </a:p>
          <a:p>
            <a:pPr>
              <a:spcBef>
                <a:spcPts val="100"/>
              </a:spcBef>
              <a:defRPr sz="900">
                <a:solidFill>
                  <a:srgbClr val="CBD5E1"/>
                </a:solidFill>
              </a:defRPr>
            </a:pPr>
            <a:r>
              <a:t>▪ Strict Grid Alignment: Pixel-perfect 44px table rows and KPI cards</a:t>
            </a:r>
          </a:p>
          <a:p>
            <a:pPr>
              <a:spcBef>
                <a:spcPts val="100"/>
              </a:spcBef>
              <a:defRPr sz="900">
                <a:solidFill>
                  <a:srgbClr val="CBD5E1"/>
                </a:solidFill>
              </a:defRPr>
            </a:pPr>
            <a:r>
              <a:t>▪ Theme Engine: Cream Modern Theme + High-Contrast Dark Mode</a:t>
            </a:r>
          </a:p>
          <a:p>
            <a:pPr>
              <a:spcBef>
                <a:spcPts val="100"/>
              </a:spcBef>
              <a:defRPr sz="900">
                <a:solidFill>
                  <a:srgbClr val="CBD5E1"/>
                </a:solidFill>
              </a:defRPr>
            </a:pPr>
            <a:r>
              <a:t>▪ Accessibility: Dynamic font scaling (A+/A-) and focus modes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77639"/>
            <a:ext cx="521208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977639"/>
            <a:ext cx="52120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114799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WEB APPLICATION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</a:defRPr>
            </a:pPr>
            <a:r>
              <a:t>Stack: HTML5 + Vanilla CSS + JS</a:t>
            </a:r>
          </a:p>
          <a:p>
            <a:pPr>
              <a:spcBef>
                <a:spcPts val="100"/>
              </a:spcBef>
              <a:defRPr sz="900">
                <a:solidFill>
                  <a:srgbClr val="CBD5E1"/>
                </a:solidFill>
              </a:defRPr>
            </a:pPr>
            <a:r>
              <a:t>▪ index.html: High-performance single page assessment portal</a:t>
            </a:r>
          </a:p>
          <a:p>
            <a:pPr>
              <a:spcBef>
                <a:spcPts val="100"/>
              </a:spcBef>
              <a:defRPr sz="900">
                <a:solidFill>
                  <a:srgbClr val="CBD5E1"/>
                </a:solidFill>
              </a:defRPr>
            </a:pPr>
            <a:r>
              <a:t>▪ assets/css/: Modular design tokens (variables, quiz-engine, admin, examiner)</a:t>
            </a:r>
          </a:p>
          <a:p>
            <a:pPr>
              <a:spcBef>
                <a:spcPts val="100"/>
              </a:spcBef>
              <a:defRPr sz="900">
                <a:solidFill>
                  <a:srgbClr val="CBD5E1"/>
                </a:solidFill>
              </a:defRPr>
            </a:pPr>
            <a:r>
              <a:t>▪ assets/js/: Segregated controllers (auth.js, app.js, quiz-engine.js, admin.js)</a:t>
            </a:r>
          </a:p>
          <a:p>
            <a:pPr>
              <a:spcBef>
                <a:spcPts val="100"/>
              </a:spcBef>
              <a:defRPr sz="900">
                <a:solidFill>
                  <a:srgbClr val="CBD5E1"/>
                </a:solidFill>
              </a:defRPr>
            </a:pPr>
            <a:r>
              <a:t>▪ sw.js &amp; manifest.json: Mobile progressive web app enablement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977639"/>
            <a:ext cx="521208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3977639"/>
            <a:ext cx="521208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4114799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B5CF6"/>
                </a:solidFill>
              </a:defRPr>
            </a:pPr>
            <a:r>
              <a:t>QUALITY &amp; TEST HARNESS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</a:defRPr>
            </a:pPr>
            <a:r>
              <a:t>Stack: Pytest Automated Suite</a:t>
            </a:r>
          </a:p>
          <a:p>
            <a:pPr>
              <a:spcBef>
                <a:spcPts val="100"/>
              </a:spcBef>
              <a:defRPr sz="900">
                <a:solidFill>
                  <a:srgbClr val="CBD5E1"/>
                </a:solidFill>
              </a:defRPr>
            </a:pPr>
            <a:r>
              <a:t>▪ tests/test_web_auth.py: Web API contract verification</a:t>
            </a:r>
          </a:p>
          <a:p>
            <a:pPr>
              <a:spcBef>
                <a:spcPts val="100"/>
              </a:spcBef>
              <a:defRPr sz="900">
                <a:solidFill>
                  <a:srgbClr val="CBD5E1"/>
                </a:solidFill>
              </a:defRPr>
            </a:pPr>
            <a:r>
              <a:t>▪ tests/test_desktop_auth.py: Desktop authentication &amp; RBAC tabs</a:t>
            </a:r>
          </a:p>
          <a:p>
            <a:pPr>
              <a:spcBef>
                <a:spcPts val="100"/>
              </a:spcBef>
              <a:defRPr sz="900">
                <a:solidFill>
                  <a:srgbClr val="CBD5E1"/>
                </a:solidFill>
              </a:defRPr>
            </a:pPr>
            <a:r>
              <a:t>▪ tests/test_admin_panel.py: Admin telemetry and user report verification</a:t>
            </a:r>
          </a:p>
          <a:p>
            <a:pPr>
              <a:spcBef>
                <a:spcPts val="100"/>
              </a:spcBef>
              <a:defRPr sz="900">
                <a:solidFill>
                  <a:srgbClr val="CBD5E1"/>
                </a:solidFill>
              </a:defRPr>
            </a:pPr>
            <a:r>
              <a:t>▪ tests/test_join_code_workflow.py: End-to-end quiz code workflow</a:t>
            </a:r>
          </a:p>
          <a:p>
            <a:pPr>
              <a:spcBef>
                <a:spcPts val="100"/>
              </a:spcBef>
              <a:defRPr sz="900">
                <a:solidFill>
                  <a:srgbClr val="CBD5E1"/>
                </a:solidFill>
              </a:defRPr>
            </a:pPr>
            <a:r>
              <a:t>▪ 22 / 22 Tests Passing with 0 errors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REVIEW 1 — SETUP &amp; SRS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Core Modules &amp; Feature Breakdown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4747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108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3B82F6"/>
                </a:solidFill>
              </a:defRPr>
            </a:pPr>
            <a:r>
              <a:t>M1: Identity &amp; Authentication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Role-based sign-in and registration for Student, Faculty, and Admin. Dynamically alters client navigation tabs according to authenticated persona.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7472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645920"/>
            <a:ext cx="34747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828800"/>
            <a:ext cx="3108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0B981"/>
                </a:solidFill>
              </a:defRPr>
            </a:pPr>
            <a:r>
              <a:t>M2: Examiner Studio &amp; AI Wizard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Faculty test creator supporting manual MCQ authoring or AI syllabus synthesis. Configures duration, passing score, category, and deterministic 6-character Join Code.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645920"/>
            <a:ext cx="347472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80" y="1645920"/>
            <a:ext cx="347472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828800"/>
            <a:ext cx="3108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59E0B"/>
                </a:solidFill>
              </a:defRPr>
            </a:pPr>
            <a:r>
              <a:t>M3: Candidate Assessment Arena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Quick test join via code. Delivers questions with interactive palette, authoritative server countdown timer, and automatic submission upon deadline expiry.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77639"/>
            <a:ext cx="347472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977639"/>
            <a:ext cx="347472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60519"/>
            <a:ext cx="3108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EF4444"/>
                </a:solidFill>
              </a:defRPr>
            </a:pPr>
            <a:r>
              <a:t>M4: Anti-Cheat Proctoring Hub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Active focus tracking monitors window blur and tab switching during exams. Violations increment in real time and are permanently audited into submission records.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977639"/>
            <a:ext cx="347472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3977639"/>
            <a:ext cx="347472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4160519"/>
            <a:ext cx="3108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8B5CF6"/>
                </a:solidFill>
              </a:defRPr>
            </a:pPr>
            <a:r>
              <a:t>M5: Zero-Latency Auto-Grading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In-memory evaluation engine compares answers against key in ~25ms. Displays immediate percentage, pass/fail status, and per-question rationale explanations.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0" y="3977639"/>
            <a:ext cx="347472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55280" y="3977639"/>
            <a:ext cx="347472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4160519"/>
            <a:ext cx="3108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EA5E9"/>
                </a:solidFill>
              </a:defRPr>
            </a:pPr>
            <a:r>
              <a:t>M6: Admin Governance &amp; Telemetry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Platform telemetry KPIs, filterable user roster, candidate performance scorecard drill-down modal, and instant one-click CSV export streams.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REVIEW 1 — SETUP &amp; SRS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Database &amp; System Design (ACID SQLite Persistence)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21792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62179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5852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B82F6"/>
                </a:solidFill>
              </a:defRPr>
            </a:pPr>
            <a:r>
              <a:t>TABLE: users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id (PK), username (UNIQUE), password, role, full_name, department, created_at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54680"/>
            <a:ext cx="621792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154680"/>
            <a:ext cx="62179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5852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</a:defRPr>
            </a:pPr>
            <a:r>
              <a:t>TABLE: quizzes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id (PK), join_code (UNIQUE), teacher_name, title, category, duration_minutes, passing_score, tags, questions_json, created_at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663440"/>
            <a:ext cx="621792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663440"/>
            <a:ext cx="621792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00600"/>
            <a:ext cx="5852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8B5CF6"/>
                </a:solidFill>
              </a:defRPr>
            </a:pPr>
            <a:r>
              <a:t>TABLE: attempts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id (PK), quiz_id (FK), join_code, quiz_title, teacher_name, student_name, score, total_questions, percentage, passed, cheat_violations, submitted_at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1645920"/>
            <a:ext cx="42976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0" y="1645920"/>
            <a:ext cx="42976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F59E0B"/>
                </a:solidFill>
              </a:defRPr>
            </a:pPr>
            <a:r>
              <a:t>DATA INTEGRITY &amp; DESIGN HIGHLIGHTS</a:t>
            </a:r>
          </a:p>
          <a:p>
            <a:pPr>
              <a:spcBef>
                <a:spcPts val="500"/>
              </a:spcBef>
              <a:defRPr sz="950">
                <a:solidFill>
                  <a:srgbClr val="CBD5E1"/>
                </a:solidFill>
              </a:defRPr>
            </a:pPr>
            <a:r>
              <a:t>• ACID Transactions: All quiz updates and candidate submissions execute in atomic SQLite write transactions.</a:t>
            </a:r>
          </a:p>
          <a:p>
            <a:pPr>
              <a:spcBef>
                <a:spcPts val="500"/>
              </a:spcBef>
              <a:defRPr sz="950">
                <a:solidFill>
                  <a:srgbClr val="CBD5E1"/>
                </a:solidFill>
              </a:defRPr>
            </a:pPr>
            <a:r>
              <a:t>• Normalized Indexing: Indexed lookups on Join Codes (UPPER) and usernames ensure sub-millisecond retrieval.</a:t>
            </a:r>
          </a:p>
          <a:p>
            <a:pPr>
              <a:spcBef>
                <a:spcPts val="500"/>
              </a:spcBef>
              <a:defRPr sz="950">
                <a:solidFill>
                  <a:srgbClr val="CBD5E1"/>
                </a:solidFill>
              </a:defRPr>
            </a:pPr>
            <a:r>
              <a:t>• Durable Question Snapshotting: Questions are serialized as self-contained JSON strings inside `quizzes` to prevent external dependency drift.</a:t>
            </a:r>
          </a:p>
          <a:p>
            <a:pPr>
              <a:spcBef>
                <a:spcPts val="500"/>
              </a:spcBef>
              <a:defRPr sz="950">
                <a:solidFill>
                  <a:srgbClr val="CBD5E1"/>
                </a:solidFill>
              </a:defRPr>
            </a:pPr>
            <a:r>
              <a:t>• Denormalized Submission Audit: Attempts store student name, quiz title, and authoring teacher to ensure immutable historical scorecards even if parent records change.</a:t>
            </a:r>
          </a:p>
          <a:p>
            <a:pPr>
              <a:spcBef>
                <a:spcPts val="500"/>
              </a:spcBef>
              <a:defRPr sz="950">
                <a:solidFill>
                  <a:srgbClr val="CBD5E1"/>
                </a:solidFill>
              </a:defRPr>
            </a:pPr>
            <a:r>
              <a:t>• Automated Snapshot Engine: Backups are saved to `backups/quiz_system_*.db` protecting institutional records.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REVIEW 1 — SETUP &amp; SRS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CRUD Operations Aligned with Quality Goals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21208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B82F6"/>
                </a:solidFill>
              </a:defRPr>
            </a:pPr>
            <a:r>
              <a:t>USER MANAGEMENT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• CREATE: Register accounts via /api/auth/register or Desktop UI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• READ: Authenticate (/api/auth/login), Roster (/api/admin/users)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• UPDATE: Department assignment, accommodation time buffers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• DELETE: Soft-deactivate user accounts and audit permissions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45920"/>
            <a:ext cx="521208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64592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7830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</a:defRPr>
            </a:pPr>
            <a:r>
              <a:t>ASSESSMENT MANAGEMENT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• CREATE: Manual authoring (/api/quizzes) or AI Wizard (/api/ai-generate)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• READ: Code resolver (/api/quizzes/code/{code}), Quiz listings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• UPDATE: Modify time duration, passing mark, or question contents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• DELETE: Archive assessment and withdraw public Join Code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77639"/>
            <a:ext cx="521208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977639"/>
            <a:ext cx="52120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114799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59E0B"/>
                </a:solidFill>
              </a:defRPr>
            </a:pPr>
            <a:r>
              <a:t>SUBMISSIONS &amp; AUDIT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• CREATE: Atomic test submission (/api/quizzes/{id}/submit)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• READ: Teacher Gradebook (/api/teacher/reports), Candidate Scorecards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• UPDATE: Durable progress autosaving during active exam sessions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• DELETE: Controlled audit retention purge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977639"/>
            <a:ext cx="521208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3977639"/>
            <a:ext cx="521208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4114799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8B5CF6"/>
                </a:solidFill>
              </a:defRPr>
            </a:pPr>
            <a:r>
              <a:t>BACKUPS &amp; REPORTS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• CREATE: Automated timestamped snapshots in backups/ directory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• READ: Stream CSV reports (/api/admin/export/users.csv &amp; submissions.csv)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• UPDATE: Validate snapshot integrity against active database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• DELETE: Rolling backup policy purging snapshots older than 30 days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REVIEW 1 — SETUP &amp; SRS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Working Application Demo Guide — Setup &amp; Test Credentials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3B82F6"/>
                </a:solidFill>
              </a:defRPr>
            </a:pPr>
            <a:r>
              <a:t>EXECUTION &amp; VERIFICATION COMMANDS</a:t>
            </a:r>
          </a:p>
          <a:p>
            <a:pPr>
              <a:spcBef>
                <a:spcPts val="600"/>
              </a:spcBef>
              <a:defRPr b="1" sz="1050">
                <a:solidFill>
                  <a:srgbClr val="FFFFFF"/>
                </a:solidFill>
              </a:defRPr>
            </a:pPr>
            <a:r>
              <a:t>▶ 1. Launch Web Server: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   python server.py</a:t>
            </a:r>
            <a:br/>
            <a:r>
              <a:t>Binds to http://localhost:8000 with real-time reload &amp; lifespan initialization.</a:t>
            </a:r>
          </a:p>
          <a:p>
            <a:pPr>
              <a:spcBef>
                <a:spcPts val="600"/>
              </a:spcBef>
              <a:defRPr b="1" sz="1050">
                <a:solidFill>
                  <a:srgbClr val="FFFFFF"/>
                </a:solidFill>
              </a:defRPr>
            </a:pPr>
            <a:r>
              <a:t>▶ 2. Launch Desktop GUI: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   python desktop_app.py</a:t>
            </a:r>
            <a:br/>
            <a:r>
              <a:t>Native Windows CustomTkinter application with strict grid alignment.</a:t>
            </a:r>
          </a:p>
          <a:p>
            <a:pPr>
              <a:spcBef>
                <a:spcPts val="600"/>
              </a:spcBef>
              <a:defRPr b="1" sz="1050">
                <a:solidFill>
                  <a:srgbClr val="FFFFFF"/>
                </a:solidFill>
              </a:defRPr>
            </a:pPr>
            <a:r>
              <a:t>▶ 3. Run Test Suite: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   python -m pytest tests/ -v</a:t>
            </a:r>
            <a:br/>
            <a:r>
              <a:t>Runs all 22 automated tests verifying auth, join codes, and admin analytics.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0B981"/>
                </a:solidFill>
              </a:defRPr>
            </a:pPr>
            <a:r>
              <a:t>READY-TO-USE TEST ACCOUNTS</a:t>
            </a:r>
          </a:p>
          <a:p>
            <a:pPr>
              <a:spcBef>
                <a:spcPts val="600"/>
              </a:spcBef>
              <a:defRPr b="1" sz="1000">
                <a:solidFill>
                  <a:srgbClr val="3B82F6"/>
                </a:solidFill>
              </a:defRPr>
            </a:pPr>
            <a:r>
              <a:t>👤 STUDENT ROLE — Alex Mercer ()</a:t>
            </a:r>
          </a:p>
          <a:p>
            <a:pPr>
              <a:defRPr sz="950" b="1">
                <a:solidFill>
                  <a:srgbClr val="FFFFFF"/>
                </a:solidFill>
              </a:defRPr>
            </a:pPr>
            <a:r>
              <a:t>   Login: student  |  Password: student123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   Purpose: Candidate Arena: Join assessment via code 'QZ-1001', test anti-cheat, instant scorecard.</a:t>
            </a:r>
          </a:p>
          <a:p>
            <a:pPr>
              <a:spcBef>
                <a:spcPts val="600"/>
              </a:spcBef>
              <a:defRPr b="1" sz="1000">
                <a:solidFill>
                  <a:srgbClr val="10B981"/>
                </a:solidFill>
              </a:defRPr>
            </a:pPr>
            <a:r>
              <a:t>👤 FACULTY ROLE — Prof. Alan Turing ()</a:t>
            </a:r>
          </a:p>
          <a:p>
            <a:pPr>
              <a:defRPr sz="950" b="1">
                <a:solidFill>
                  <a:srgbClr val="FFFFFF"/>
                </a:solidFill>
              </a:defRPr>
            </a:pPr>
            <a:r>
              <a:t>   Login: faculty  |  Password: faculty123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   Purpose: Examiner Studio: Manual quiz builder, AI quiz generator, class submission gradebook.</a:t>
            </a:r>
          </a:p>
          <a:p>
            <a:pPr>
              <a:spcBef>
                <a:spcPts val="600"/>
              </a:spcBef>
              <a:defRPr b="1" sz="1000">
                <a:solidFill>
                  <a:srgbClr val="8B5CF6"/>
                </a:solidFill>
              </a:defRPr>
            </a:pPr>
            <a:r>
              <a:t>👤 ADMIN ROLE — System Administrator ()</a:t>
            </a:r>
          </a:p>
          <a:p>
            <a:pPr>
              <a:defRPr sz="950" b="1">
                <a:solidFill>
                  <a:srgbClr val="FFFFFF"/>
                </a:solidFill>
              </a:defRPr>
            </a:pPr>
            <a:r>
              <a:t>   Login: admin  |  Password: admin123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   Purpose: Platform Admin: Global telemetry KPIs, candidate history modal, and CSV exports.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REVIEW 1 — SETUP &amp; SRS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Live Demonstration Walkthroughs (Student, Faculty, Admin)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4747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3B82F6"/>
                </a:solidFill>
              </a:defRPr>
            </a:pPr>
            <a:r>
              <a:t>SCENARIO 1: STUDENT EXAMINATION</a:t>
            </a:r>
          </a:p>
          <a:p>
            <a:pPr>
              <a:spcBef>
                <a:spcPts val="500"/>
              </a:spcBef>
              <a:defRPr sz="950">
                <a:solidFill>
                  <a:srgbClr val="FFFFFF"/>
                </a:solidFill>
              </a:defRPr>
            </a:pPr>
            <a:r>
              <a:t>1. Sign in as student / student123; navigation tabs restrict to Candidate Arena</a:t>
            </a:r>
          </a:p>
          <a:p>
            <a:pPr>
              <a:spcBef>
                <a:spcPts val="500"/>
              </a:spcBef>
              <a:defRPr sz="950">
                <a:solidFill>
                  <a:srgbClr val="FFFFFF"/>
                </a:solidFill>
              </a:defRPr>
            </a:pPr>
            <a:r>
              <a:t>2. Enter active Join Code 'QZ-1001' and launch assessment</a:t>
            </a:r>
          </a:p>
          <a:p>
            <a:pPr>
              <a:spcBef>
                <a:spcPts val="500"/>
              </a:spcBef>
              <a:defRPr sz="950">
                <a:solidFill>
                  <a:srgbClr val="FFFFFF"/>
                </a:solidFill>
              </a:defRPr>
            </a:pPr>
            <a:r>
              <a:t>3. Answer questions while authoritative countdown timer runs</a:t>
            </a:r>
          </a:p>
          <a:p>
            <a:pPr>
              <a:spcBef>
                <a:spcPts val="500"/>
              </a:spcBef>
              <a:defRPr sz="950">
                <a:solidFill>
                  <a:srgbClr val="FFFFFF"/>
                </a:solidFill>
              </a:defRPr>
            </a:pPr>
            <a:r>
              <a:t>4. Switch browser tabs to trigger live Anti-Cheat violation alert</a:t>
            </a:r>
          </a:p>
          <a:p>
            <a:pPr>
              <a:spcBef>
                <a:spcPts val="500"/>
              </a:spcBef>
              <a:defRPr sz="950">
                <a:solidFill>
                  <a:srgbClr val="FFFFFF"/>
                </a:solidFill>
              </a:defRPr>
            </a:pPr>
            <a:r>
              <a:t>5. Submit test; zero-latency auto-grading delivers scorecard in ~25ms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7472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645920"/>
            <a:ext cx="34747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8288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0B981"/>
                </a:solidFill>
              </a:defRPr>
            </a:pPr>
            <a:r>
              <a:t>SCENARIO 2: FACULTY STUDIO &amp; AI</a:t>
            </a:r>
          </a:p>
          <a:p>
            <a:pPr>
              <a:spcBef>
                <a:spcPts val="500"/>
              </a:spcBef>
              <a:defRPr sz="950">
                <a:solidFill>
                  <a:srgbClr val="FFFFFF"/>
                </a:solidFill>
              </a:defRPr>
            </a:pPr>
            <a:r>
              <a:t>1. Sign in as faculty / faculty123; Examiner Studio is front and center</a:t>
            </a:r>
          </a:p>
          <a:p>
            <a:pPr>
              <a:spcBef>
                <a:spcPts val="500"/>
              </a:spcBef>
              <a:defRPr sz="950">
                <a:solidFill>
                  <a:srgbClr val="FFFFFF"/>
                </a:solidFill>
              </a:defRPr>
            </a:pPr>
            <a:r>
              <a:t>2. Open AI Question Generator, enter topic 'Data Structures', click Generate</a:t>
            </a:r>
          </a:p>
          <a:p>
            <a:pPr>
              <a:spcBef>
                <a:spcPts val="500"/>
              </a:spcBef>
              <a:defRPr sz="950">
                <a:solidFill>
                  <a:srgbClr val="FFFFFF"/>
                </a:solidFill>
              </a:defRPr>
            </a:pPr>
            <a:r>
              <a:t>3. Set passing score to 70%, 15m duration, click Publish Quiz</a:t>
            </a:r>
          </a:p>
          <a:p>
            <a:pPr>
              <a:spcBef>
                <a:spcPts val="500"/>
              </a:spcBef>
              <a:defRPr sz="950">
                <a:solidFill>
                  <a:srgbClr val="FFFFFF"/>
                </a:solidFill>
              </a:defRPr>
            </a:pPr>
            <a:r>
              <a:t>4. System creates new 6-char Join Code (e.g. QZ-3942)</a:t>
            </a:r>
          </a:p>
          <a:p>
            <a:pPr>
              <a:spcBef>
                <a:spcPts val="500"/>
              </a:spcBef>
              <a:defRPr sz="950">
                <a:solidFill>
                  <a:srgbClr val="FFFFFF"/>
                </a:solidFill>
              </a:defRPr>
            </a:pPr>
            <a:r>
              <a:t>5. Open Class Gradebook to inspect student attempts and proctor violation counts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645920"/>
            <a:ext cx="347472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80" y="1645920"/>
            <a:ext cx="347472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8288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8B5CF6"/>
                </a:solidFill>
              </a:defRPr>
            </a:pPr>
            <a:r>
              <a:t>SCENARIO 3: ADMIN GOVERNANCE</a:t>
            </a:r>
          </a:p>
          <a:p>
            <a:pPr>
              <a:spcBef>
                <a:spcPts val="500"/>
              </a:spcBef>
              <a:defRPr sz="950">
                <a:solidFill>
                  <a:srgbClr val="FFFFFF"/>
                </a:solidFill>
              </a:defRPr>
            </a:pPr>
            <a:r>
              <a:t>1. Sign in as admin / admin123; open Platform Administration Console</a:t>
            </a:r>
          </a:p>
          <a:p>
            <a:pPr>
              <a:spcBef>
                <a:spcPts val="500"/>
              </a:spcBef>
              <a:defRPr sz="950">
                <a:solidFill>
                  <a:srgbClr val="FFFFFF"/>
                </a:solidFill>
              </a:defRPr>
            </a:pPr>
            <a:r>
              <a:t>2. Inspect high-level KPIs (Total accounts, candidates, faculty, violations)</a:t>
            </a:r>
          </a:p>
          <a:p>
            <a:pPr>
              <a:spcBef>
                <a:spcPts val="500"/>
              </a:spcBef>
              <a:defRPr sz="950">
                <a:solidFill>
                  <a:srgbClr val="FFFFFF"/>
                </a:solidFill>
              </a:defRPr>
            </a:pPr>
            <a:r>
              <a:t>3. Filter user roster table by role or search string 'Alex Mercer'</a:t>
            </a:r>
          </a:p>
          <a:p>
            <a:pPr>
              <a:spcBef>
                <a:spcPts val="500"/>
              </a:spcBef>
              <a:defRPr sz="950">
                <a:solidFill>
                  <a:srgbClr val="FFFFFF"/>
                </a:solidFill>
              </a:defRPr>
            </a:pPr>
            <a:r>
              <a:t>4. Click 'View Report' on candidate to open historical performance modal</a:t>
            </a:r>
          </a:p>
          <a:p>
            <a:pPr>
              <a:spcBef>
                <a:spcPts val="500"/>
              </a:spcBef>
              <a:defRPr sz="950">
                <a:solidFill>
                  <a:srgbClr val="FFFFFF"/>
                </a:solidFill>
              </a:defRPr>
            </a:pPr>
            <a:r>
              <a:t>5. Click 'Export Roster CSV' &amp; 'Export Submissions CSV' for audit reports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REVIEW 1 — SETUP &amp; SRS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 1 Deliverables Summary &amp; Next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4747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0B981"/>
                </a:solidFill>
              </a:defRPr>
            </a:pPr>
            <a:r>
              <a:t>REVIEW 1 DELIVERABLES MET</a:t>
            </a:r>
          </a:p>
          <a:p>
            <a:pPr>
              <a:spcBef>
                <a:spcPts val="400"/>
              </a:spcBef>
              <a:defRPr sz="950">
                <a:solidFill>
                  <a:srgbClr val="FFFFFF"/>
                </a:solidFill>
              </a:defRPr>
            </a:pPr>
            <a:r>
              <a:t>✔ Problem Statement &amp; Quality Objectives formalized</a:t>
            </a:r>
          </a:p>
          <a:p>
            <a:pPr>
              <a:spcBef>
                <a:spcPts val="400"/>
              </a:spcBef>
              <a:defRPr sz="950">
                <a:solidFill>
                  <a:srgbClr val="FFFFFF"/>
                </a:solidFill>
              </a:defRPr>
            </a:pPr>
            <a:r>
              <a:t>✔ IEEE 830 Software Requirements Specification (SRS)</a:t>
            </a:r>
          </a:p>
          <a:p>
            <a:pPr>
              <a:spcBef>
                <a:spcPts val="400"/>
              </a:spcBef>
              <a:defRPr sz="950">
                <a:solidFill>
                  <a:srgbClr val="FFFFFF"/>
                </a:solidFill>
              </a:defRPr>
            </a:pPr>
            <a:r>
              <a:t>✔ Role-Based Access Control (Student, Faculty, Admin)</a:t>
            </a:r>
          </a:p>
          <a:p>
            <a:pPr>
              <a:spcBef>
                <a:spcPts val="400"/>
              </a:spcBef>
              <a:defRPr sz="950">
                <a:solidFill>
                  <a:srgbClr val="FFFFFF"/>
                </a:solidFill>
              </a:defRPr>
            </a:pPr>
            <a:r>
              <a:t>✔ Decoupled Modular Folder Architecture</a:t>
            </a:r>
          </a:p>
          <a:p>
            <a:pPr>
              <a:spcBef>
                <a:spcPts val="400"/>
              </a:spcBef>
              <a:defRPr sz="950">
                <a:solidFill>
                  <a:srgbClr val="FFFFFF"/>
                </a:solidFill>
              </a:defRPr>
            </a:pPr>
            <a:r>
              <a:t>✔ Complete Database Design with SQLite Persistence</a:t>
            </a:r>
          </a:p>
          <a:p>
            <a:pPr>
              <a:spcBef>
                <a:spcPts val="400"/>
              </a:spcBef>
              <a:defRPr sz="950">
                <a:solidFill>
                  <a:srgbClr val="FFFFFF"/>
                </a:solidFill>
              </a:defRPr>
            </a:pPr>
            <a:r>
              <a:t>✔ All CRUD Operations implemented and tested</a:t>
            </a:r>
          </a:p>
          <a:p>
            <a:pPr>
              <a:spcBef>
                <a:spcPts val="400"/>
              </a:spcBef>
              <a:defRPr sz="950">
                <a:solidFill>
                  <a:srgbClr val="FFFFFF"/>
                </a:solidFill>
              </a:defRPr>
            </a:pPr>
            <a:r>
              <a:t>✔ Working Web &amp; Desktop Applications verified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7472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645920"/>
            <a:ext cx="34747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8288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3B82F6"/>
                </a:solidFill>
              </a:defRPr>
            </a:pPr>
            <a:r>
              <a:t>VERIFIED QUALITY METRICS</a:t>
            </a:r>
          </a:p>
          <a:p>
            <a:pPr>
              <a:spcBef>
                <a:spcPts val="400"/>
              </a:spcBef>
              <a:defRPr sz="950">
                <a:solidFill>
                  <a:srgbClr val="FFFFFF"/>
                </a:solidFill>
              </a:defRPr>
            </a:pPr>
            <a:r>
              <a:t>✔ Sub-250ms submission and grading target exceeded (~25ms)</a:t>
            </a:r>
          </a:p>
          <a:p>
            <a:pPr>
              <a:spcBef>
                <a:spcPts val="400"/>
              </a:spcBef>
              <a:defRPr sz="950">
                <a:solidFill>
                  <a:srgbClr val="FFFFFF"/>
                </a:solidFill>
              </a:defRPr>
            </a:pPr>
            <a:r>
              <a:t>✔ 100% deterministic grading accuracy</a:t>
            </a:r>
          </a:p>
          <a:p>
            <a:pPr>
              <a:spcBef>
                <a:spcPts val="400"/>
              </a:spcBef>
              <a:defRPr sz="950">
                <a:solidFill>
                  <a:srgbClr val="FFFFFF"/>
                </a:solidFill>
              </a:defRPr>
            </a:pPr>
            <a:r>
              <a:t>✔ Active Anti-Cheat window blur detection active</a:t>
            </a:r>
          </a:p>
          <a:p>
            <a:pPr>
              <a:spcBef>
                <a:spcPts val="400"/>
              </a:spcBef>
              <a:defRPr sz="950">
                <a:solidFill>
                  <a:srgbClr val="FFFFFF"/>
                </a:solidFill>
              </a:defRPr>
            </a:pPr>
            <a:r>
              <a:t>✔ Hourly automated database snapshot engine in backups/</a:t>
            </a:r>
          </a:p>
          <a:p>
            <a:pPr>
              <a:spcBef>
                <a:spcPts val="400"/>
              </a:spcBef>
              <a:defRPr sz="950">
                <a:solidFill>
                  <a:srgbClr val="FFFFFF"/>
                </a:solidFill>
              </a:defRPr>
            </a:pPr>
            <a:r>
              <a:t>✔ 22 of 22 automated Pytest unit tests passing cleanly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645920"/>
            <a:ext cx="347472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80" y="1645920"/>
            <a:ext cx="347472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8288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8B5CF6"/>
                </a:solidFill>
              </a:defRPr>
            </a:pPr>
            <a:r>
              <a:t>ROADMAP FOR REVIEW 2</a:t>
            </a:r>
          </a:p>
          <a:p>
            <a:pPr>
              <a:spcBef>
                <a:spcPts val="400"/>
              </a:spcBef>
              <a:defRPr sz="950">
                <a:solidFill>
                  <a:srgbClr val="FFFFFF"/>
                </a:solidFill>
              </a:defRPr>
            </a:pPr>
            <a:r>
              <a:t>➡ Biometric identity verification &amp; live webcam proctoring</a:t>
            </a:r>
          </a:p>
          <a:p>
            <a:pPr>
              <a:spcBef>
                <a:spcPts val="400"/>
              </a:spcBef>
              <a:defRPr sz="950">
                <a:solidFill>
                  <a:srgbClr val="FFFFFF"/>
                </a:solidFill>
              </a:defRPr>
            </a:pPr>
            <a:r>
              <a:t>➡ Offline synchronization queue for intermittent connections</a:t>
            </a:r>
          </a:p>
          <a:p>
            <a:pPr>
              <a:spcBef>
                <a:spcPts val="400"/>
              </a:spcBef>
              <a:defRPr sz="950">
                <a:solidFill>
                  <a:srgbClr val="FFFFFF"/>
                </a:solidFill>
              </a:defRPr>
            </a:pPr>
            <a:r>
              <a:t>➡ Enhanced graphical SQC analytics charts (Pareto, p-charts)</a:t>
            </a:r>
          </a:p>
          <a:p>
            <a:pPr>
              <a:spcBef>
                <a:spcPts val="400"/>
              </a:spcBef>
              <a:defRPr sz="950">
                <a:solidFill>
                  <a:srgbClr val="FFFFFF"/>
                </a:solidFill>
              </a:defRPr>
            </a:pPr>
            <a:r>
              <a:t>➡ Multi-section test scheduling with automated release windows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