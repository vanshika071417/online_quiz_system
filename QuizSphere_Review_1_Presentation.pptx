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0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ACADEMIC REVIEW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Online Quiz System (QuizSphere Pro)</a:t>
            </a:r>
          </a:p>
          <a:p>
            <a:pPr>
              <a:spcBef>
                <a:spcPts val="800"/>
              </a:spcBef>
              <a:defRPr sz="2000">
                <a:solidFill>
                  <a:srgbClr val="3B82F6"/>
                </a:solidFill>
              </a:defRPr>
            </a:pPr>
            <a:r>
              <a:t>Setup &amp; Software Requirements Specification (SRS)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256032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474720"/>
            <a:ext cx="256032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576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3B82F6"/>
                </a:solidFill>
              </a:defRPr>
            </a:pPr>
            <a:r>
              <a:t>COURSE &amp; PROJECT TOPIC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BBAT104: Fundamentals of TQM</a:t>
            </a:r>
            <a:br/>
            <a:r>
              <a:t>Baseline System 9: Online Quiz 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3474720"/>
            <a:ext cx="256032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3474720"/>
            <a:ext cx="25603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36576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0B981"/>
                </a:solidFill>
              </a:defRPr>
            </a:pPr>
            <a:r>
              <a:t>ASSIGNED QUALITY GOAL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Q20: Overall Software Quality</a:t>
            </a:r>
            <a:br/>
            <a:r>
              <a:t>Dashboards, Validation, Export &amp; Backups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474720"/>
            <a:ext cx="256032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3474720"/>
            <a:ext cx="256032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576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F59E0B"/>
                </a:solidFill>
              </a:defRPr>
            </a:pPr>
            <a:r>
              <a:t>CORE ENGINEERING TARGET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Zero-Latency Submissions (&lt;250ms)</a:t>
            </a:r>
            <a:br/>
            <a:r>
              <a:t>Deterministic Zero-Defect Auto-Grading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3474720"/>
            <a:ext cx="256032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23960" y="3474720"/>
            <a:ext cx="256032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36576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8B5CF6"/>
                </a:solidFill>
              </a:defRPr>
            </a:pPr>
            <a:r>
              <a:t>IMPLEMENTATION PARITY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FastAPI Unified Web Backend + SPA</a:t>
            </a:r>
            <a:br/>
            <a:r>
              <a:t>Native CustomTkinter Desktop Client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REVIEW 1 — SETUP &amp; SRS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Problem Statement &amp; Baseline Understanding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EF4444"/>
                </a:solidFill>
              </a:defRPr>
            </a:pPr>
            <a:r>
              <a:t>CRITICAL LIMITATIONS IN EXISTING SYSTEMS</a:t>
            </a:r>
          </a:p>
          <a:p>
            <a:pPr>
              <a:spcBef>
                <a:spcPts val="600"/>
              </a:spcBef>
              <a:defRPr b="1" sz="1100">
                <a:solidFill>
                  <a:srgbClr val="FFFFFF"/>
                </a:solidFill>
              </a:defRPr>
            </a:pPr>
            <a:r>
              <a:t>• Network Lag &amp; Submission Hangs: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High-concurrency test submissions freeze or time out, resulting in unrecorded candidate answers and data loss.</a:t>
            </a:r>
          </a:p>
          <a:p>
            <a:pPr>
              <a:spcBef>
                <a:spcPts val="600"/>
              </a:spcBef>
              <a:defRPr b="1" sz="1100">
                <a:solidFill>
                  <a:srgbClr val="FFFFFF"/>
                </a:solidFill>
              </a:defRPr>
            </a:pPr>
            <a:r>
              <a:t>• Academic Integrity Vulnerabilities: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Standard online forms lack real-time window focus detection, allowing rampant tab-switching and external lookup.</a:t>
            </a:r>
          </a:p>
          <a:p>
            <a:pPr>
              <a:spcBef>
                <a:spcPts val="600"/>
              </a:spcBef>
              <a:defRPr b="1" sz="1100">
                <a:solidFill>
                  <a:srgbClr val="FFFFFF"/>
                </a:solidFill>
              </a:defRPr>
            </a:pPr>
            <a:r>
              <a:t>• Teacher Manual Burden: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Educators spend hours formulating questions, creating multiple choice formats, calculating scores, and tabulating spreadsheets.</a:t>
            </a:r>
          </a:p>
          <a:p>
            <a:pPr>
              <a:spcBef>
                <a:spcPts val="600"/>
              </a:spcBef>
              <a:defRPr b="1" sz="1100">
                <a:solidFill>
                  <a:srgbClr val="FFFFFF"/>
                </a:solidFill>
              </a:defRPr>
            </a:pPr>
            <a:r>
              <a:t>• Single Point of Failure: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Lack of automated snapshot backups and offline desktop failover exposes institutions to fatal exam downtime.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10B981"/>
                </a:solidFill>
              </a:defRPr>
            </a:pPr>
            <a:r>
              <a:t>QUIZSPHERE PRO ARCHITECTURAL SOLUTION</a:t>
            </a:r>
          </a:p>
          <a:p>
            <a:pPr>
              <a:spcBef>
                <a:spcPts val="600"/>
              </a:spcBef>
              <a:defRPr b="1" sz="1100">
                <a:solidFill>
                  <a:srgbClr val="10B981"/>
                </a:solidFill>
              </a:defRPr>
            </a:pPr>
            <a:r>
              <a:t>✔ Sub-250ms Instant Evaluation: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In-memory deterministic scoring pipeline processes answers and yields full scorecards in 15-35 milliseconds.</a:t>
            </a:r>
          </a:p>
          <a:p>
            <a:pPr>
              <a:spcBef>
                <a:spcPts val="600"/>
              </a:spcBef>
              <a:defRPr b="1" sz="1100">
                <a:solidFill>
                  <a:srgbClr val="10B981"/>
                </a:solidFill>
              </a:defRPr>
            </a:pPr>
            <a:r>
              <a:t>✔ Anti-Cheat Proctoring Hub: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Continuous window focus loss and tab-switch telemetry increments violation counters and logs timestamps in real time.</a:t>
            </a:r>
          </a:p>
          <a:p>
            <a:pPr>
              <a:spcBef>
                <a:spcPts val="600"/>
              </a:spcBef>
              <a:defRPr b="1" sz="1100">
                <a:solidFill>
                  <a:srgbClr val="10B981"/>
                </a:solidFill>
              </a:defRPr>
            </a:pPr>
            <a:r>
              <a:t>✔ AI Curriculum Question Synthesis: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Faculty input syllabus keywords to automatically generate 5-20 verified MCQs with rationale keys in seconds.</a:t>
            </a:r>
          </a:p>
          <a:p>
            <a:pPr>
              <a:spcBef>
                <a:spcPts val="600"/>
              </a:spcBef>
              <a:defRPr b="1" sz="1100">
                <a:solidFill>
                  <a:srgbClr val="10B981"/>
                </a:solidFill>
              </a:defRPr>
            </a:pPr>
            <a:r>
              <a:t>✔ Dual Platform Deployment: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Simultaneous access via responsive Web browser SPA (FastAPI) and native standalone Windows Desktop App (CustomTkinter).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REVIEW 1 — SETUP &amp; SRS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Quality Objectives &amp; TQM Critical-to-Quality (CTQ)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56032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3B82F6"/>
                </a:solidFill>
              </a:defRPr>
            </a:pPr>
            <a:r>
              <a:t>SUBMISSION LATENCY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&lt; 250 ms</a:t>
            </a:r>
          </a:p>
          <a:p>
            <a:pPr>
              <a:spcAft>
                <a:spcPts val="1200"/>
              </a:spcAft>
              <a:defRPr sz="1100" b="1">
                <a:solidFill>
                  <a:srgbClr val="3B82F6"/>
                </a:solidFill>
              </a:defRPr>
            </a:pPr>
            <a:r>
              <a:t>Achieved: ~25 ms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Turnaround time from student submission to verified database scorecard.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1645920"/>
            <a:ext cx="25603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0B981"/>
                </a:solidFill>
              </a:defRPr>
            </a:pPr>
            <a:r>
              <a:t>GRADING ACCURACY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100.0%</a:t>
            </a:r>
          </a:p>
          <a:p>
            <a:pPr>
              <a:spcAft>
                <a:spcPts val="1200"/>
              </a:spcAft>
              <a:defRPr sz="1100" b="1">
                <a:solidFill>
                  <a:srgbClr val="10B981"/>
                </a:solidFill>
              </a:defRPr>
            </a:pPr>
            <a:r>
              <a:t>Zero Defect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Scoring consistency between expected cryptographic key and calculated result.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256032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F59E0B"/>
                </a:solidFill>
              </a:defRPr>
            </a:pPr>
            <a:r>
              <a:t>ANTI-CHEAT COVERAGE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100%</a:t>
            </a:r>
          </a:p>
          <a:p>
            <a:pPr>
              <a:spcAft>
                <a:spcPts val="1200"/>
              </a:spcAft>
              <a:defRPr sz="1100" b="1">
                <a:solidFill>
                  <a:srgbClr val="F59E0B"/>
                </a:solidFill>
              </a:defRPr>
            </a:pPr>
            <a:r>
              <a:t>Full Telemetry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Focus blur events and unauthorized window switches logged with infraction counts.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23960" y="1645920"/>
            <a:ext cx="256032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8288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8B5CF6"/>
                </a:solidFill>
              </a:defRPr>
            </a:pPr>
            <a:r>
              <a:t>DATA RECOVERY (RPO)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Hourly Snapshots</a:t>
            </a:r>
          </a:p>
          <a:p>
            <a:pPr>
              <a:spcAft>
                <a:spcPts val="1200"/>
              </a:spcAft>
              <a:defRPr sz="1100" b="1">
                <a:solidFill>
                  <a:srgbClr val="8B5CF6"/>
                </a:solidFill>
              </a:defRPr>
            </a:pPr>
            <a:r>
              <a:t>Automated Backups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Timestamped SQLite snapshots saved to backups/ with one-click restore.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REVIEW 1 — SETUP &amp; SRS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Scope &amp; Role-Based Access Control (RBAC)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47472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</a:defRPr>
            </a:pPr>
            <a:r>
              <a:t>STUDENT / CANDIDATE</a:t>
            </a:r>
          </a:p>
          <a:p>
            <a:pPr>
              <a:spcAft>
                <a:spcPts val="1200"/>
              </a:spcAft>
              <a:defRPr sz="1100" b="1">
                <a:solidFill>
                  <a:srgbClr val="FFFFFF"/>
                </a:solidFill>
              </a:defRPr>
            </a:pPr>
            <a:r>
              <a:t>Portal: Candidate Arena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Join assessments using 6-character Join Code (e.g. QZ-1001)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Authoritative countdown timer with zero client drift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Active Anti-Cheat window focus &amp; blur detection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Instant scorecards with question-by-question explanations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Restricted view: Examiner Studio &amp; Admin Panel hidden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34747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82880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FACULTY / EXAMINER</a:t>
            </a:r>
          </a:p>
          <a:p>
            <a:pPr>
              <a:spcAft>
                <a:spcPts val="1200"/>
              </a:spcAft>
              <a:defRPr sz="1100" b="1">
                <a:solidFill>
                  <a:srgbClr val="FFFFFF"/>
                </a:solidFill>
              </a:defRPr>
            </a:pPr>
            <a:r>
              <a:t>Portal: Examiner Studio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Manual quiz authoring with custom time limits &amp; passing marks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AI-assisted curriculum generation based on topic &amp; difficulty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Instant Join Code generation for fast student distribution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Live Class Gradebook with candidate scores &amp; cheat violation counts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Restricted view: Admin governance panel hidden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64592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80" y="1645920"/>
            <a:ext cx="347472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82880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ADMINISTRATOR</a:t>
            </a:r>
          </a:p>
          <a:p>
            <a:pPr>
              <a:spcAft>
                <a:spcPts val="1200"/>
              </a:spcAft>
              <a:defRPr sz="1100" b="1">
                <a:solidFill>
                  <a:srgbClr val="FFFFFF"/>
                </a:solidFill>
              </a:defRPr>
            </a:pPr>
            <a:r>
              <a:t>Portal: Platform Admin Console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Platform telemetry (total users, active faculty, attempt counts)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User governance roster with search &amp; role filters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Candidate Performance Scorecard drill-down modal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Instant CSV exports for rosters and complete audit logs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• Database integrity monitoring and backup snapshot triggers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REVIEW 1 — SETUP &amp; SRS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Modular Folder Architecture &amp; 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BACKEND CORE</a:t>
            </a:r>
          </a:p>
          <a:p>
            <a:pPr>
              <a:spcAft>
                <a:spcPts val="400"/>
              </a:spcAft>
              <a:defRPr sz="1000" b="1">
                <a:solidFill>
                  <a:srgbClr val="FFFFFF"/>
                </a:solidFill>
              </a:defRPr>
            </a:pPr>
            <a:r>
              <a:t>Stack: FastAPI + Uvicorn + SQLite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server.py: Unified REST API and WebSocket connection manager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backend/api/v1/: Enterprise modular routers (auth, quizzes, attempts, admin)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backend/core/: Database session factory, security JWT, telemetry middleware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backend/models/: Declarative multi-tenant SQLAlchemy domain models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ai_quiz_generator.py: Curriculum MCQ generation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645920"/>
            <a:ext cx="5212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830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DESKTOP APPLICATION</a:t>
            </a:r>
          </a:p>
          <a:p>
            <a:pPr>
              <a:spcAft>
                <a:spcPts val="400"/>
              </a:spcAft>
              <a:defRPr sz="1000" b="1">
                <a:solidFill>
                  <a:srgbClr val="FFFFFF"/>
                </a:solidFill>
              </a:defRPr>
            </a:pPr>
            <a:r>
              <a:t>Stack: CustomTkinter GUI Engine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desktop_app.py: Standalone native Windows client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DatabaseManager: Direct transactional SQLite integration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Strict Grid Alignment: Pixel-perfect 44px table rows and KPI cards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Theme Engine: Cream Modern Theme + High-Contrast Dark Mode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Accessibility: Dynamic font scaling (A+/A-) and focus modes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977639"/>
            <a:ext cx="52120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1479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WEB APPLICATION</a:t>
            </a:r>
          </a:p>
          <a:p>
            <a:pPr>
              <a:spcAft>
                <a:spcPts val="400"/>
              </a:spcAft>
              <a:defRPr sz="1000" b="1">
                <a:solidFill>
                  <a:srgbClr val="FFFFFF"/>
                </a:solidFill>
              </a:defRPr>
            </a:pPr>
            <a:r>
              <a:t>Stack: HTML5 + Vanilla CSS + JS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index.html: High-performance single page assessment portal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assets/css/: Modular design tokens (variables, quiz-engine, admin, examiner)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assets/js/: Segregated controllers (auth.js, app.js, quiz-engine.js, admin.js)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sw.js &amp; manifest.json: Mobile progressive web app enablement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977639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977639"/>
            <a:ext cx="521208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11479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QUALITY &amp; TEST HARNESS</a:t>
            </a:r>
          </a:p>
          <a:p>
            <a:pPr>
              <a:spcAft>
                <a:spcPts val="400"/>
              </a:spcAft>
              <a:defRPr sz="1000" b="1">
                <a:solidFill>
                  <a:srgbClr val="FFFFFF"/>
                </a:solidFill>
              </a:defRPr>
            </a:pPr>
            <a:r>
              <a:t>Stack: Pytest Automated Suite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tests/test_web_auth.py: Web API contract verification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tests/test_desktop_auth.py: Desktop authentication &amp; RBAC tabs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tests/test_admin_panel.py: Admin telemetry and user report verification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tests/test_join_code_workflow.py: End-to-end quiz code workflow</a:t>
            </a:r>
          </a:p>
          <a:p>
            <a:pPr>
              <a:spcBef>
                <a:spcPts val="100"/>
              </a:spcBef>
              <a:defRPr sz="900">
                <a:solidFill>
                  <a:srgbClr val="CBD5E1"/>
                </a:solidFill>
              </a:defRPr>
            </a:pPr>
            <a:r>
              <a:t>▪ 22 / 22 Tests Passing with 0 errors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REVIEW 1 — SETUP &amp; SRS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Core Modules &amp; Feature Breakdown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47472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3B82F6"/>
                </a:solidFill>
              </a:defRPr>
            </a:pPr>
            <a:r>
              <a:t>M1: Identity &amp; Authentication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Role-based sign-in and registration for Student, Faculty, and Admin. Dynamically alters client navigation tabs according to authenticated persona.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34747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828800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M2: Examiner Studio &amp; AI Wizard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Faculty test creator supporting manual MCQ authoring or AI syllabus synthesis. Configures duration, passing score, category, and deterministic 6-character Join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645920"/>
            <a:ext cx="347472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80" y="1645920"/>
            <a:ext cx="347472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828800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M3: Candidate Assessment Arena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Quick test join via code. Delivers questions with interactive palette, authoritative server countdown timer, and automatic submission upon deadline expiry.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77639"/>
            <a:ext cx="347472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977639"/>
            <a:ext cx="347472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60519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EF4444"/>
                </a:solidFill>
              </a:defRPr>
            </a:pPr>
            <a:r>
              <a:t>M4: Anti-Cheat Proctoring Hub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Active focus tracking monitors window blur and tab switching during exams. Violations increment in real time and are permanently audited into submission records.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977639"/>
            <a:ext cx="347472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3977639"/>
            <a:ext cx="347472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4160519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8B5CF6"/>
                </a:solidFill>
              </a:defRPr>
            </a:pPr>
            <a:r>
              <a:t>M5: Zero-Latency Auto-Grading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In-memory evaluation engine compares answers against key in ~25ms. Displays immediate percentage, pass/fail status, and per-question rationale explanations.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3977639"/>
            <a:ext cx="347472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80" y="3977639"/>
            <a:ext cx="347472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4160519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EA5E9"/>
                </a:solidFill>
              </a:defRPr>
            </a:pPr>
            <a:r>
              <a:t>M6: Admin Governance &amp; Telemetry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Platform telemetry KPIs, filterable user roster, candidate performance scorecard drill-down modal, and instant one-click CSV export streams.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REVIEW 1 — SETUP &amp; SRS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Database &amp; System Design (ACID SQLite Persistence)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2179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621792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5852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B82F6"/>
                </a:solidFill>
              </a:defRPr>
            </a:pPr>
            <a:r>
              <a:t>TABLE: users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id (PK), username (UNIQUE), password, role, full_name, department, created_at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62179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154680"/>
            <a:ext cx="62179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5852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</a:defRPr>
            </a:pPr>
            <a:r>
              <a:t>TABLE: quizzes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id (PK), join_code (UNIQUE), teacher_name, title, category, duration_minutes, passing_score, tags, questions_json, created_at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62179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621792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5852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8B5CF6"/>
                </a:solidFill>
              </a:defRPr>
            </a:pPr>
            <a:r>
              <a:t>TABLE: attempts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id (PK), quiz_id (FK), join_code, quiz_title, teacher_name, student_name, score, total_questions, percentage, passed, cheat_violations, submitted_at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1645920"/>
            <a:ext cx="42976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828800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F59E0B"/>
                </a:solidFill>
              </a:defRPr>
            </a:pPr>
            <a:r>
              <a:t>DATA INTEGRITY &amp; DESIGN HIGHLIGHTS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</a:defRPr>
            </a:pPr>
            <a:r>
              <a:t>• ACID Transactions: All quiz updates and candidate submissions execute in atomic SQLite write transactions.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</a:defRPr>
            </a:pPr>
            <a:r>
              <a:t>• Normalized Indexing: Indexed lookups on Join Codes (UPPER) and usernames ensure sub-millisecond retrieval.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</a:defRPr>
            </a:pPr>
            <a:r>
              <a:t>• Durable Question Snapshotting: Questions are serialized as self-contained JSON strings inside `quizzes` to prevent external dependency drift.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</a:defRPr>
            </a:pPr>
            <a:r>
              <a:t>• Denormalized Submission Audit: Attempts store student name, quiz title, and authoring teacher to ensure immutable historical scorecards even if parent records change.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</a:defRPr>
            </a:pPr>
            <a:r>
              <a:t>• Automated Snapshot Engine: Backups are saved to `backups/quiz_system_*.db` protecting institutional records.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REVIEW 1 — SETUP &amp; SRS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Initial UI &amp; End-to-End System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47472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3B82F6"/>
                </a:solidFill>
              </a:defRPr>
            </a:pPr>
            <a:r>
              <a:t>1. AUTHENTICATE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User logs in as Student, Faculty, or Admin. Navigation immediately configures role-specific 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34747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828800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t>2. CREATE QUIZ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Faculty designs quiz manually or triggers AI Generator. Server assigns unique Join Code (e.g. QZ-4821).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645920"/>
            <a:ext cx="347472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80" y="1645920"/>
            <a:ext cx="347472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828800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t>3. ENTER CODE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Student inputs 6-char Join Code. Assessment metadata and questions load into Candidate Arena in &lt;25ms.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77639"/>
            <a:ext cx="347472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977639"/>
            <a:ext cx="347472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60519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EF4444"/>
                </a:solidFill>
              </a:defRPr>
            </a:pPr>
            <a:r>
              <a:t>4. TAKE &amp; MONITOR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Countdown timer runs authoritatively. Client anti-cheat monitors focus and logs tab blurs.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977639"/>
            <a:ext cx="347472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3977639"/>
            <a:ext cx="347472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4160519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8B5CF6"/>
                </a:solidFill>
              </a:defRPr>
            </a:pPr>
            <a:r>
              <a:t>5. AUTO-GRADE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Candidate submits test. Server auto-grades in ~25ms and presents detailed scorecard with answer rationale.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3977639"/>
            <a:ext cx="347472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80" y="3977639"/>
            <a:ext cx="347472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4160519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EA5E9"/>
                </a:solidFill>
              </a:defRPr>
            </a:pPr>
            <a:r>
              <a:t>6. AUDIT &amp; EXPORT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Teacher inspects class gradebook. Admin analyzes platform telemetry and streams roster &amp; attempt CSVs.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REVIEW 1 — SETUP &amp; SRS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CRUD Operations Aligned with Quality Goals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B82F6"/>
                </a:solidFill>
              </a:defRPr>
            </a:pPr>
            <a:r>
              <a:t>USER MANAGEMENT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CREATE: Register accounts via /api/auth/register or Desktop UI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READ: Authenticate (/api/auth/login), Roster (/api/admin/users)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UPDATE: Department assignment, accommodation time buffers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DELETE: Soft-deactivate user accounts and audit permissions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645920"/>
            <a:ext cx="5212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830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</a:defRPr>
            </a:pPr>
            <a:r>
              <a:t>ASSESSMENT MANAGEMENT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CREATE: Manual authoring (/api/quizzes) or AI Wizard (/api/ai-generate)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READ: Code resolver (/api/quizzes/code/{code}), Quiz listings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UPDATE: Modify time duration, passing mark, or question contents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DELETE: Archive assessment and withdraw public Join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977639"/>
            <a:ext cx="52120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1479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59E0B"/>
                </a:solidFill>
              </a:defRPr>
            </a:pPr>
            <a:r>
              <a:t>SUBMISSIONS &amp; AUDIT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CREATE: Atomic test submission (/api/quizzes/{id}/submit)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READ: Teacher Gradebook (/api/teacher/reports), Candidate Scorecards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UPDATE: Durable progress autosaving during active exam sessions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DELETE: Controlled audit retention purge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977639"/>
            <a:ext cx="521208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977639"/>
            <a:ext cx="521208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11479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8B5CF6"/>
                </a:solidFill>
              </a:defRPr>
            </a:pPr>
            <a:r>
              <a:t>BACKUPS &amp; REPORTS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CREATE: Automated timestamped snapshots in backups/ directory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READ: Stream CSV reports (/api/admin/export/users.csv &amp; submissions.csv)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UPDATE: Validate snapshot integrity against active database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t>• DELETE: Rolling backup policy purging snapshots older than 30 days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REVIEW 1 — SETUP &amp; SRS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Working Application &amp; Live Demonstration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3B82F6"/>
                </a:solidFill>
              </a:defRPr>
            </a:pPr>
            <a:r>
              <a:t>WEB APPLICATION DEMONSTRATION</a:t>
            </a:r>
          </a:p>
          <a:p>
            <a:pPr>
              <a:spcBef>
                <a:spcPts val="400"/>
              </a:spcBef>
              <a:defRPr b="1" sz="1000">
                <a:solidFill>
                  <a:srgbClr val="FFFFFF"/>
                </a:solidFill>
              </a:defRPr>
            </a:pPr>
            <a:r>
              <a:t>• Command to Start: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  python server.py (Runs on http://localhost:8000)</a:t>
            </a:r>
          </a:p>
          <a:p>
            <a:pPr>
              <a:spcBef>
                <a:spcPts val="400"/>
              </a:spcBef>
              <a:defRPr b="1" sz="1000">
                <a:solidFill>
                  <a:srgbClr val="FFFFFF"/>
                </a:solidFill>
              </a:defRPr>
            </a:pPr>
            <a:r>
              <a:t>• Live Student Workflow: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  Sign in as 'student' / 'student123' -&gt; Enter Join Code 'QZ-1001' -&gt; Complete assessment -&gt; Demonstrate anti-cheat alert -&gt; Receive instant scorecard.</a:t>
            </a:r>
          </a:p>
          <a:p>
            <a:pPr>
              <a:spcBef>
                <a:spcPts val="400"/>
              </a:spcBef>
              <a:defRPr b="1" sz="1000">
                <a:solidFill>
                  <a:srgbClr val="FFFFFF"/>
                </a:solidFill>
              </a:defRPr>
            </a:pPr>
            <a:r>
              <a:t>• Live Faculty Workflow: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  Sign in as 'faculty' / 'faculty123' -&gt; Create quiz with AI Question Generator -&gt; Copy Join Code -&gt; View class gradebook with submitted candidate results.</a:t>
            </a:r>
          </a:p>
          <a:p>
            <a:pPr>
              <a:spcBef>
                <a:spcPts val="400"/>
              </a:spcBef>
              <a:defRPr b="1" sz="1000">
                <a:solidFill>
                  <a:srgbClr val="FFFFFF"/>
                </a:solidFill>
              </a:defRPr>
            </a:pPr>
            <a:r>
              <a:t>• Live Admin Workflow: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  Sign in as 'admin' / 'admin123' -&gt; Inspect platform telemetry KPIs -&gt; Open candidate scorecard modal -&gt; Download Roster &amp; Submissions CSV.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DESKTOP APPLICATION DEMONSTRATION</a:t>
            </a:r>
          </a:p>
          <a:p>
            <a:pPr>
              <a:spcBef>
                <a:spcPts val="400"/>
              </a:spcBef>
              <a:defRPr b="1" sz="1000">
                <a:solidFill>
                  <a:srgbClr val="FFFFFF"/>
                </a:solidFill>
              </a:defRPr>
            </a:pPr>
            <a:r>
              <a:t>• Command to Start: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  python desktop_app.py (Native Windows Standalone GUI)</a:t>
            </a:r>
          </a:p>
          <a:p>
            <a:pPr>
              <a:spcBef>
                <a:spcPts val="400"/>
              </a:spcBef>
              <a:defRPr b="1" sz="1000">
                <a:solidFill>
                  <a:srgbClr val="FFFFFF"/>
                </a:solidFill>
              </a:defRPr>
            </a:pPr>
            <a:r>
              <a:t>• Desktop Authentication: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  Native authentication dialog supporting Student, Faculty, and Admin sign-in with instant role-specific tab adaptation.</a:t>
            </a:r>
          </a:p>
          <a:p>
            <a:pPr>
              <a:spcBef>
                <a:spcPts val="400"/>
              </a:spcBef>
              <a:defRPr b="1" sz="1000">
                <a:solidFill>
                  <a:srgbClr val="FFFFFF"/>
                </a:solidFill>
              </a:defRPr>
            </a:pPr>
            <a:r>
              <a:t>• Strict Grid Table Layout: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  Pixel-perfect 44px rows with zero vertical detachment; aligned columns for User ID, Name, Role, Quizzes, Avg Score, Pass Rate, Flags.</a:t>
            </a:r>
          </a:p>
          <a:p>
            <a:pPr>
              <a:spcBef>
                <a:spcPts val="400"/>
              </a:spcBef>
              <a:defRPr b="1" sz="1000">
                <a:solidFill>
                  <a:srgbClr val="FFFFFF"/>
                </a:solidFill>
              </a:defRPr>
            </a:pPr>
            <a:r>
              <a:t>• Theme &amp; Accessibility: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  Toggle between Warm Cream Mode and High-Contrast Dark Mode; dynamic font scaling buttons (A+/A-) and Focus Mode.</a:t>
            </a:r>
          </a:p>
          <a:p>
            <a:pPr>
              <a:spcBef>
                <a:spcPts val="400"/>
              </a:spcBef>
              <a:defRPr b="1" sz="1000">
                <a:solidFill>
                  <a:srgbClr val="FFFFFF"/>
                </a:solidFill>
              </a:defRPr>
            </a:pPr>
            <a:r>
              <a:t>• Test Suite Verification: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  python -m pytest tests/ (All 22 unit tests passing).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REVIEW 1 — SETUP &amp; SRS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 1 Deliverables Summary &amp;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4747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0B981"/>
                </a:solidFill>
              </a:defRPr>
            </a:pPr>
            <a:r>
              <a:t>REVIEW 1 DELIVERABLES MET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✔ Problem Statement &amp; Quality Objectives formalized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✔ IEEE 830 Software Requirements Specification (SRS)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✔ Role-Based Access Control (Student, Faculty, Admin)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✔ Decoupled Modular Folder Architecture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✔ Complete Database Design with SQLite Persistence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✔ All CRUD Operations implemented and tested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✔ Working Web &amp; Desktop Applications verified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347472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82880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3B82F6"/>
                </a:solidFill>
              </a:defRPr>
            </a:pPr>
            <a:r>
              <a:t>VERIFIED QUALITY METRICS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✔ Sub-250ms submission and grading target exceeded (~25ms)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✔ 100% deterministic grading accuracy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✔ Active Anti-Cheat window blur detection active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✔ Hourly automated database snapshot engine in backups/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✔ 22 of 22 automated Pytest unit tests passing cleanly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64592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80" y="1645920"/>
            <a:ext cx="347472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82880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8B5CF6"/>
                </a:solidFill>
              </a:defRPr>
            </a:pPr>
            <a:r>
              <a:t>ROADMAP FOR REVIEW 2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➡ Biometric identity verification &amp; live webcam proctoring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➡ Offline synchronization queue for intermittent connections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➡ Enhanced graphical SQC analytics charts (Pareto, p-charts)</a:t>
            </a:r>
          </a:p>
          <a:p>
            <a:pPr>
              <a:spcBef>
                <a:spcPts val="400"/>
              </a:spcBef>
              <a:defRPr sz="950">
                <a:solidFill>
                  <a:srgbClr val="FFFFFF"/>
                </a:solidFill>
              </a:defRPr>
            </a:pPr>
            <a:r>
              <a:t>➡ Multi-section test scheduling with automated release windows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